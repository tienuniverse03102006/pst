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 showSpecialPlsOnTitleSld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3"/>
    <p:sldId id="283" r:id="rId4"/>
    <p:sldId id="286" r:id="rId5"/>
    <p:sldId id="326" r:id="rId6"/>
    <p:sldId id="328" r:id="rId7"/>
    <p:sldId id="329" r:id="rId8"/>
    <p:sldId id="330" r:id="rId9"/>
    <p:sldId id="331" r:id="rId10"/>
    <p:sldId id="332" r:id="rId11"/>
    <p:sldId id="333" r:id="rId12"/>
    <p:sldId id="336" r:id="rId13"/>
    <p:sldId id="334" r:id="rId14"/>
    <p:sldId id="337" r:id="rId15"/>
    <p:sldId id="335" r:id="rId16"/>
    <p:sldId id="338" r:id="rId17"/>
    <p:sldId id="339" r:id="rId18"/>
    <p:sldId id="343" r:id="rId19"/>
    <p:sldId id="324" r:id="rId20"/>
    <p:sldId id="290" r:id="rId21"/>
    <p:sldId id="340" r:id="rId22"/>
    <p:sldId id="342" r:id="rId23"/>
    <p:sldId id="341" r:id="rId24"/>
    <p:sldId id="325" r:id="rId25"/>
  </p:sldIdLst>
  <p:sldSz cx="9144000" cy="6858000" type="screen4x3"/>
  <p:notesSz cx="7315200" cy="9601200"/>
  <p:custDataLst>
    <p:tags r:id="rId3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3300"/>
    <a:srgbClr val="EC14A4"/>
    <a:srgbClr val="003399"/>
    <a:srgbClr val="777777"/>
    <a:srgbClr val="C0C0C0"/>
    <a:srgbClr val="DDDDDD"/>
    <a:srgbClr val="EAEAEA"/>
    <a:srgbClr val="FFFF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67" autoAdjust="0"/>
    <p:restoredTop sz="92317" autoAdjust="0"/>
  </p:normalViewPr>
  <p:slideViewPr>
    <p:cSldViewPr showGuides="1">
      <p:cViewPr varScale="1">
        <p:scale>
          <a:sx n="93" d="100"/>
          <a:sy n="93" d="100"/>
        </p:scale>
        <p:origin x="10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1244" y="-9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89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8EEAE-7569-413A-85CF-1AB00F64B063}" type="datetimeFigureOut">
              <a:rPr lang="vi-VN" smtClean="0"/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65A3B-FCB7-450E-A086-F6A324F33AD2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/>
            </a:lvl1pPr>
          </a:lstStyle>
          <a:p>
            <a:endParaRPr 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algn="r" defTabSz="967105">
              <a:defRPr sz="1300"/>
            </a:lvl1pPr>
          </a:lstStyle>
          <a:p>
            <a:fld id="{BD166996-482C-4B32-8B73-26CA6458B37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.pn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Fig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9201"/>
            <a:ext cx="5715000" cy="4279956"/>
          </a:xfrm>
          <a:prstGeom prst="rect">
            <a:avLst/>
          </a:prstGeom>
        </p:spPr>
      </p:pic>
      <p:pic>
        <p:nvPicPr>
          <p:cNvPr id="16" name="Picture 15" descr="325px-Beta_distribution_pdf.svg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91001" y="1991826"/>
            <a:ext cx="2438399" cy="1868188"/>
          </a:xfrm>
          <a:prstGeom prst="rect">
            <a:avLst/>
          </a:prstGeom>
        </p:spPr>
      </p:pic>
      <p:pic>
        <p:nvPicPr>
          <p:cNvPr id="15" name="Picture 14" descr="Normal_Distribution_PDF.svg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572000"/>
            <a:ext cx="3019245" cy="1932317"/>
          </a:xfrm>
          <a:prstGeom prst="rect">
            <a:avLst/>
          </a:prstGeom>
        </p:spPr>
      </p:pic>
      <p:pic>
        <p:nvPicPr>
          <p:cNvPr id="23" name="Picture 22" descr="images1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19600" y="3124200"/>
            <a:ext cx="2424023" cy="1544128"/>
          </a:xfrm>
          <a:prstGeom prst="rect">
            <a:avLst/>
          </a:prstGeom>
        </p:spPr>
      </p:pic>
      <p:pic>
        <p:nvPicPr>
          <p:cNvPr id="22" name="Picture 21" descr="images2.jp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133600" y="4648200"/>
            <a:ext cx="2846717" cy="1319842"/>
          </a:xfrm>
          <a:prstGeom prst="rect">
            <a:avLst/>
          </a:prstGeom>
        </p:spPr>
      </p:pic>
      <p:sp>
        <p:nvSpPr>
          <p:cNvPr id="16396" name="Rectangle 12"/>
          <p:cNvSpPr>
            <a:spLocks noChangeArrowheads="1"/>
          </p:cNvSpPr>
          <p:nvPr userDrawn="1"/>
        </p:nvSpPr>
        <p:spPr bwMode="auto">
          <a:xfrm>
            <a:off x="0" y="9906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6452" name="Rectangle 68"/>
          <p:cNvSpPr>
            <a:spLocks noChangeArrowheads="1"/>
          </p:cNvSpPr>
          <p:nvPr userDrawn="1"/>
        </p:nvSpPr>
        <p:spPr bwMode="auto">
          <a:xfrm>
            <a:off x="0" y="0"/>
            <a:ext cx="9144000" cy="990600"/>
          </a:xfrm>
          <a:prstGeom prst="rect">
            <a:avLst/>
          </a:prstGeom>
          <a:gradFill rotWithShape="1">
            <a:gsLst>
              <a:gs pos="0">
                <a:srgbClr val="000066">
                  <a:gamma/>
                  <a:shade val="87843"/>
                  <a:invGamma/>
                  <a:alpha val="70000"/>
                </a:srgbClr>
              </a:gs>
              <a:gs pos="50000">
                <a:srgbClr val="000066"/>
              </a:gs>
              <a:gs pos="100000">
                <a:srgbClr val="000066">
                  <a:gamma/>
                  <a:shade val="87843"/>
                  <a:invGamma/>
                  <a:alpha val="70000"/>
                </a:srgbClr>
              </a:gs>
            </a:gsLst>
            <a:lin ang="0" scaled="1"/>
          </a:gradFill>
          <a:ln w="9525">
            <a:solidFill>
              <a:schemeClr val="bg2"/>
            </a:solidFill>
            <a:miter lim="800000"/>
          </a:ln>
          <a:effectLst/>
        </p:spPr>
        <p:txBody>
          <a:bodyPr wrap="none" anchor="ctr"/>
          <a:lstStyle/>
          <a:p>
            <a:endParaRPr lang="vi-VN" sz="1600">
              <a:solidFill>
                <a:schemeClr val="bg1"/>
              </a:solidFill>
            </a:endParaRPr>
          </a:p>
        </p:txBody>
      </p:sp>
      <p:sp>
        <p:nvSpPr>
          <p:cNvPr id="16462" name="Rectangle 78"/>
          <p:cNvSpPr>
            <a:spLocks noChangeArrowheads="1"/>
          </p:cNvSpPr>
          <p:nvPr userDrawn="1"/>
        </p:nvSpPr>
        <p:spPr bwMode="auto">
          <a:xfrm>
            <a:off x="0" y="6553200"/>
            <a:ext cx="9144000" cy="304800"/>
          </a:xfrm>
          <a:prstGeom prst="rect">
            <a:avLst/>
          </a:prstGeom>
          <a:gradFill rotWithShape="1">
            <a:gsLst>
              <a:gs pos="0">
                <a:srgbClr val="000066"/>
              </a:gs>
              <a:gs pos="50000">
                <a:srgbClr val="00002F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/>
            <a:r>
              <a:rPr lang="en-US" sz="1600" b="1" baseline="0" smtClean="0">
                <a:solidFill>
                  <a:schemeClr val="bg1"/>
                </a:solidFill>
              </a:rPr>
              <a:t>Ta Quang Hung, Ph.D.</a:t>
            </a: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6464" name="WordArt 80"/>
          <p:cNvSpPr>
            <a:spLocks noChangeArrowheads="1" noChangeShapeType="1" noTextEdit="1"/>
          </p:cNvSpPr>
          <p:nvPr userDrawn="1"/>
        </p:nvSpPr>
        <p:spPr bwMode="auto">
          <a:xfrm>
            <a:off x="914400" y="228600"/>
            <a:ext cx="73914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vi-VN" sz="3600" b="1" kern="10">
              <a:ln w="9525">
                <a:solidFill>
                  <a:srgbClr val="FFFF00"/>
                </a:solidFill>
                <a:round/>
              </a:ln>
              <a:solidFill>
                <a:srgbClr val="FFFF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466" name="Text Box 82"/>
          <p:cNvSpPr txBox="1">
            <a:spLocks noChangeArrowheads="1"/>
          </p:cNvSpPr>
          <p:nvPr userDrawn="1"/>
        </p:nvSpPr>
        <p:spPr bwMode="auto">
          <a:xfrm>
            <a:off x="3641725" y="5827713"/>
            <a:ext cx="184150" cy="366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endParaRPr lang="vi-VN"/>
          </a:p>
        </p:txBody>
      </p:sp>
      <p:sp>
        <p:nvSpPr>
          <p:cNvPr id="11" name="Rectangle 10"/>
          <p:cNvSpPr/>
          <p:nvPr userDrawn="1"/>
        </p:nvSpPr>
        <p:spPr>
          <a:xfrm>
            <a:off x="1117445" y="228600"/>
            <a:ext cx="764555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all" spc="0" smtClean="0">
                <a:ln w="9000" cmpd="sng">
                  <a:solidFill>
                    <a:schemeClr val="bg1"/>
                  </a:solidFill>
                  <a:prstDash val="solid"/>
                </a:ln>
                <a:gradFill>
                  <a:gsLst>
                    <a:gs pos="0">
                      <a:srgbClr val="FFEFD1"/>
                    </a:gs>
                    <a:gs pos="64999">
                      <a:srgbClr val="F0EBD5"/>
                    </a:gs>
                    <a:gs pos="100000">
                      <a:srgbClr val="D1C39F"/>
                    </a:gs>
                  </a:gsLst>
                  <a:lin ang="5400000" scaled="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Faculty of information technology</a:t>
            </a:r>
            <a:endParaRPr lang="en-US" sz="2800" b="1" cap="all" spc="0" dirty="0">
              <a:ln w="9000" cmpd="sng">
                <a:solidFill>
                  <a:schemeClr val="bg1"/>
                </a:solidFill>
                <a:prstDash val="solid"/>
              </a:ln>
              <a:gradFill>
                <a:gsLst>
                  <a:gs pos="0">
                    <a:srgbClr val="FFEFD1"/>
                  </a:gs>
                  <a:gs pos="64999">
                    <a:srgbClr val="F0EBD5"/>
                  </a:gs>
                  <a:gs pos="100000">
                    <a:srgbClr val="D1C39F"/>
                  </a:gs>
                </a:gsLst>
                <a:lin ang="5400000" scaled="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6397" name="Rectangle 13"/>
          <p:cNvSpPr>
            <a:spLocks noChangeArrowheads="1"/>
          </p:cNvSpPr>
          <p:nvPr userDrawn="1"/>
        </p:nvSpPr>
        <p:spPr bwMode="auto">
          <a:xfrm flipV="1">
            <a:off x="0" y="6410325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21" name="Rectangle 20"/>
          <p:cNvSpPr/>
          <p:nvPr userDrawn="1"/>
        </p:nvSpPr>
        <p:spPr>
          <a:xfrm>
            <a:off x="0" y="2678654"/>
            <a:ext cx="1219200" cy="1204857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"/>
                </a:schemeClr>
              </a:gs>
              <a:gs pos="100000">
                <a:schemeClr val="bg2">
                  <a:lumMod val="20000"/>
                  <a:lumOff val="80000"/>
                  <a:alpha val="51000"/>
                </a:schemeClr>
              </a:gs>
              <a:gs pos="100000">
                <a:srgbClr val="D1C39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137160" y="116840"/>
            <a:ext cx="762000" cy="762000"/>
            <a:chOff x="137160" y="116840"/>
            <a:chExt cx="762000" cy="762000"/>
          </a:xfrm>
        </p:grpSpPr>
        <p:sp>
          <p:nvSpPr>
            <p:cNvPr id="20" name="Rounded Rectangle 19"/>
            <p:cNvSpPr/>
            <p:nvPr/>
          </p:nvSpPr>
          <p:spPr>
            <a:xfrm>
              <a:off x="137160" y="116840"/>
              <a:ext cx="762000" cy="76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  <a:effectLst>
              <a:glow rad="101600">
                <a:schemeClr val="accent2">
                  <a:lumMod val="60000"/>
                  <a:lumOff val="40000"/>
                  <a:alpha val="60000"/>
                </a:schemeClr>
              </a:glow>
            </a:effectLst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pic>
          <p:nvPicPr>
            <p:cNvPr id="17" name="Picture 16" descr="logo_hanu_red_1.png"/>
            <p:cNvPicPr>
              <a:picLocks noChangeAspect="1"/>
            </p:cNvPicPr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231140" y="202477"/>
              <a:ext cx="574040" cy="590727"/>
            </a:xfrm>
            <a:prstGeom prst="rect">
              <a:avLst/>
            </a:prstGeom>
          </p:spPr>
        </p:pic>
      </p:grpSp>
      <p:sp>
        <p:nvSpPr>
          <p:cNvPr id="27" name="Rectangle 26"/>
          <p:cNvSpPr/>
          <p:nvPr userDrawn="1"/>
        </p:nvSpPr>
        <p:spPr>
          <a:xfrm>
            <a:off x="1" y="1981200"/>
            <a:ext cx="6629399" cy="740485"/>
          </a:xfrm>
          <a:prstGeom prst="rect">
            <a:avLst/>
          </a:prstGeom>
          <a:gradFill flip="none" rotWithShape="1">
            <a:gsLst>
              <a:gs pos="10000">
                <a:schemeClr val="bg1">
                  <a:alpha val="90000"/>
                </a:schemeClr>
              </a:gs>
              <a:gs pos="100000">
                <a:schemeClr val="bg2">
                  <a:lumMod val="20000"/>
                  <a:lumOff val="80000"/>
                  <a:alpha val="51000"/>
                </a:schemeClr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           </a:t>
            </a:r>
            <a:endParaRPr lang="vi-VN"/>
          </a:p>
        </p:txBody>
      </p:sp>
      <p:sp>
        <p:nvSpPr>
          <p:cNvPr id="32" name="Rectangle 31"/>
          <p:cNvSpPr/>
          <p:nvPr userDrawn="1"/>
        </p:nvSpPr>
        <p:spPr>
          <a:xfrm>
            <a:off x="0" y="1240716"/>
            <a:ext cx="5867399" cy="740485"/>
          </a:xfrm>
          <a:prstGeom prst="rect">
            <a:avLst/>
          </a:prstGeom>
          <a:gradFill flip="none" rotWithShape="1">
            <a:gsLst>
              <a:gs pos="10000">
                <a:schemeClr val="bg1">
                  <a:alpha val="90000"/>
                </a:schemeClr>
              </a:gs>
              <a:gs pos="100000">
                <a:schemeClr val="bg2">
                  <a:lumMod val="20000"/>
                  <a:lumOff val="80000"/>
                  <a:alpha val="51000"/>
                </a:schemeClr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           </a:t>
            </a:r>
            <a:endParaRPr lang="vi-VN"/>
          </a:p>
        </p:txBody>
      </p:sp>
      <p:sp>
        <p:nvSpPr>
          <p:cNvPr id="33" name="Rectangle 32"/>
          <p:cNvSpPr/>
          <p:nvPr userDrawn="1"/>
        </p:nvSpPr>
        <p:spPr>
          <a:xfrm>
            <a:off x="0" y="3886200"/>
            <a:ext cx="6906409" cy="740485"/>
          </a:xfrm>
          <a:prstGeom prst="rect">
            <a:avLst/>
          </a:prstGeom>
          <a:gradFill flip="none" rotWithShape="1">
            <a:gsLst>
              <a:gs pos="10000">
                <a:schemeClr val="bg1">
                  <a:alpha val="90000"/>
                </a:schemeClr>
              </a:gs>
              <a:gs pos="100000">
                <a:schemeClr val="bg2">
                  <a:lumMod val="20000"/>
                  <a:lumOff val="80000"/>
                  <a:alpha val="51000"/>
                </a:schemeClr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           </a:t>
            </a:r>
            <a:endParaRPr lang="vi-VN"/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914400" y="2743200"/>
            <a:ext cx="7305675" cy="1143000"/>
            <a:chOff x="914400" y="2514600"/>
            <a:chExt cx="7305675" cy="1143000"/>
          </a:xfrm>
        </p:grpSpPr>
        <p:sp>
          <p:nvSpPr>
            <p:cNvPr id="16398" name="AutoShape 14"/>
            <p:cNvSpPr>
              <a:spLocks noChangeArrowheads="1"/>
            </p:cNvSpPr>
            <p:nvPr userDrawn="1"/>
          </p:nvSpPr>
          <p:spPr bwMode="auto">
            <a:xfrm>
              <a:off x="914400" y="2514600"/>
              <a:ext cx="7305675" cy="1143000"/>
            </a:xfrm>
            <a:prstGeom prst="roundRect">
              <a:avLst>
                <a:gd name="adj" fmla="val 16667"/>
              </a:avLst>
            </a:prstGeom>
            <a:solidFill>
              <a:srgbClr val="003399"/>
            </a:solidFill>
            <a:ln w="9525">
              <a:noFill/>
              <a:round/>
            </a:ln>
            <a:effectLst>
              <a:prstShdw prst="shdw17" dist="17961" dir="2700000">
                <a:srgbClr val="003399">
                  <a:gamma/>
                  <a:shade val="60000"/>
                  <a:invGamma/>
                </a:srgbClr>
              </a:prstShdw>
            </a:effectLst>
          </p:spPr>
          <p:txBody>
            <a:bodyPr wrap="none" anchor="ctr"/>
            <a:lstStyle/>
            <a:p>
              <a:pPr algn="ctr"/>
              <a:endParaRPr lang="vi-VN" sz="2800" b="1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028701" y="2667000"/>
              <a:ext cx="7086599" cy="76944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soft" dir="t">
                  <a:rot lat="0" lon="0" rev="10800000"/>
                </a:lightRig>
              </a:scene3d>
              <a:sp3d>
                <a:bevelT w="27940" h="12700"/>
                <a:contourClr>
                  <a:srgbClr val="DDDDDD"/>
                </a:contourClr>
              </a:sp3d>
            </a:bodyPr>
            <a:lstStyle/>
            <a:p>
              <a:pPr algn="ctr"/>
              <a:r>
                <a:rPr lang="en-US" sz="4400" b="1" cap="none" spc="150" smtClean="0">
                  <a:ln w="11430"/>
                  <a:solidFill>
                    <a:srgbClr val="F8F8F8"/>
                  </a:solidFill>
                  <a:effectLst>
                    <a:outerShdw blurRad="25400" algn="tl" rotWithShape="0">
                      <a:srgbClr val="000000">
                        <a:alpha val="43000"/>
                      </a:srgbClr>
                    </a:outerShdw>
                  </a:effectLst>
                </a:rPr>
                <a:t>Probability &amp; Statistics</a:t>
              </a:r>
              <a:endParaRPr lang="vi-VN" sz="4400" b="1" cap="none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34" name="Rectangle 33"/>
          <p:cNvSpPr/>
          <p:nvPr userDrawn="1"/>
        </p:nvSpPr>
        <p:spPr>
          <a:xfrm>
            <a:off x="0" y="4604274"/>
            <a:ext cx="5791201" cy="892884"/>
          </a:xfrm>
          <a:prstGeom prst="rect">
            <a:avLst/>
          </a:prstGeom>
          <a:gradFill flip="none" rotWithShape="1">
            <a:gsLst>
              <a:gs pos="10000">
                <a:schemeClr val="bg1">
                  <a:alpha val="77000"/>
                </a:schemeClr>
              </a:gs>
              <a:gs pos="100000">
                <a:schemeClr val="bg2">
                  <a:lumMod val="20000"/>
                  <a:lumOff val="80000"/>
                  <a:alpha val="51000"/>
                </a:schemeClr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           </a:t>
            </a:r>
            <a:endParaRPr lang="vi-VN"/>
          </a:p>
        </p:txBody>
      </p:sp>
      <p:sp>
        <p:nvSpPr>
          <p:cNvPr id="35" name="Rectangle 34"/>
          <p:cNvSpPr/>
          <p:nvPr userDrawn="1"/>
        </p:nvSpPr>
        <p:spPr>
          <a:xfrm>
            <a:off x="0" y="5499289"/>
            <a:ext cx="4724399" cy="892885"/>
          </a:xfrm>
          <a:prstGeom prst="rect">
            <a:avLst/>
          </a:prstGeom>
          <a:gradFill flip="none" rotWithShape="1">
            <a:gsLst>
              <a:gs pos="10000">
                <a:schemeClr val="bg1">
                  <a:alpha val="90000"/>
                </a:schemeClr>
              </a:gs>
              <a:gs pos="100000">
                <a:schemeClr val="bg2">
                  <a:lumMod val="20000"/>
                  <a:lumOff val="80000"/>
                  <a:alpha val="51000"/>
                </a:schemeClr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            </a:t>
            </a:r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B80DFE4F-5F97-4DF1-9575-34F2E33B1CCB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4343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4024067E-5673-4873-AE5F-D1E165AF4A84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E449EDA3-932E-48ED-A0B5-97D1EAA15C39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3B05E4FD-EF65-42B9-B766-74D8BBF16C71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1FD33ED1-1831-4BD2-90F2-06A26034712F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85E734B5-ED78-40C3-8EDF-CCB4B7087BF7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6662A41D-9CCF-4D43-ACEF-3EF073443FAF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259D7837-47EA-4667-8030-E6D1E16C72FE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100" y="914400"/>
            <a:ext cx="22479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914400"/>
            <a:ext cx="65913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Page </a:t>
            </a:r>
            <a:fld id="{7FC664F0-A13C-45D5-8E5C-38C21356A83C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685800"/>
            <a:ext cx="8839200" cy="5715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 smtClean="0"/>
          </a:p>
        </p:txBody>
      </p:sp>
      <p:sp>
        <p:nvSpPr>
          <p:cNvPr id="15369" name="Rectangle 9"/>
          <p:cNvSpPr>
            <a:spLocks noChangeArrowheads="1"/>
          </p:cNvSpPr>
          <p:nvPr userDrawn="1"/>
        </p:nvSpPr>
        <p:spPr bwMode="auto">
          <a:xfrm>
            <a:off x="0" y="6553200"/>
            <a:ext cx="4572000" cy="304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r"/>
            <a:r>
              <a:rPr lang="en-US" sz="1600" b="1" smtClean="0">
                <a:solidFill>
                  <a:schemeClr val="bg1"/>
                </a:solidFill>
              </a:rPr>
              <a:t>Lecture 3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5370" name="Rectangle 10"/>
          <p:cNvSpPr>
            <a:spLocks noChangeArrowheads="1"/>
          </p:cNvSpPr>
          <p:nvPr userDrawn="1"/>
        </p:nvSpPr>
        <p:spPr bwMode="auto">
          <a:xfrm>
            <a:off x="0" y="5334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71" name="Rectangle 11"/>
          <p:cNvSpPr>
            <a:spLocks noChangeArrowheads="1"/>
          </p:cNvSpPr>
          <p:nvPr userDrawn="1"/>
        </p:nvSpPr>
        <p:spPr bwMode="auto">
          <a:xfrm flipV="1">
            <a:off x="0" y="6400800"/>
            <a:ext cx="9144000" cy="1524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72" name="Text Box 12"/>
          <p:cNvSpPr txBox="1">
            <a:spLocks noChangeArrowheads="1"/>
          </p:cNvSpPr>
          <p:nvPr userDrawn="1"/>
        </p:nvSpPr>
        <p:spPr bwMode="auto">
          <a:xfrm>
            <a:off x="4648200" y="6562725"/>
            <a:ext cx="44958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The University of New South Wales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5373" name="Rectangle 13"/>
          <p:cNvSpPr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r>
              <a:rPr lang="en-US" sz="1600" b="1" smtClean="0">
                <a:solidFill>
                  <a:schemeClr val="bg1"/>
                </a:solidFill>
              </a:rPr>
              <a:t>Probability &amp; Statistics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5374" name="Rectangle 14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gradFill rotWithShape="1">
            <a:gsLst>
              <a:gs pos="0">
                <a:srgbClr val="003399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vi-VN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89916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smtClean="0"/>
              <a:t>Click to edit Master title style</a:t>
            </a:r>
            <a:endParaRPr lang="en-US" smtClean="0"/>
          </a:p>
        </p:txBody>
      </p:sp>
      <p:sp>
        <p:nvSpPr>
          <p:cNvPr id="1537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53400" y="6553200"/>
            <a:ext cx="9144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Page </a:t>
            </a:r>
            <a:fld id="{E585A1DF-CEA6-45EB-B657-5FCFF027AE0D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3399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003399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399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4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17.png"/><Relationship Id="rId7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tags" Target="../tags/tag7.xml"/><Relationship Id="rId4" Type="http://schemas.openxmlformats.org/officeDocument/2006/relationships/image" Target="../media/image15.png"/><Relationship Id="rId3" Type="http://schemas.openxmlformats.org/officeDocument/2006/relationships/tags" Target="../tags/tag6.xml"/><Relationship Id="rId2" Type="http://schemas.openxmlformats.org/officeDocument/2006/relationships/image" Target="../media/image14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9.png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image" Target="../media/image18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5.jpeg"/><Relationship Id="rId6" Type="http://schemas.openxmlformats.org/officeDocument/2006/relationships/image" Target="../media/image24.png"/><Relationship Id="rId5" Type="http://schemas.openxmlformats.org/officeDocument/2006/relationships/tags" Target="../tags/tag17.xml"/><Relationship Id="rId4" Type="http://schemas.openxmlformats.org/officeDocument/2006/relationships/image" Target="../media/image23.png"/><Relationship Id="rId3" Type="http://schemas.openxmlformats.org/officeDocument/2006/relationships/tags" Target="../tags/tag16.xml"/><Relationship Id="rId2" Type="http://schemas.openxmlformats.org/officeDocument/2006/relationships/image" Target="../media/image22.png"/><Relationship Id="rId1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27.png"/><Relationship Id="rId7" Type="http://schemas.openxmlformats.org/officeDocument/2006/relationships/tags" Target="../tags/tag22.xml"/><Relationship Id="rId6" Type="http://schemas.openxmlformats.org/officeDocument/2006/relationships/image" Target="../media/image26.png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image" Target="../media/image14.png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30.png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image" Target="../media/image29.png"/><Relationship Id="rId13" Type="http://schemas.openxmlformats.org/officeDocument/2006/relationships/tags" Target="../tags/tag26.xml"/><Relationship Id="rId12" Type="http://schemas.openxmlformats.org/officeDocument/2006/relationships/image" Target="../media/image28.png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33.png"/><Relationship Id="rId7" Type="http://schemas.openxmlformats.org/officeDocument/2006/relationships/tags" Target="../tags/tag32.xml"/><Relationship Id="rId6" Type="http://schemas.openxmlformats.org/officeDocument/2006/relationships/image" Target="../media/image14.png"/><Relationship Id="rId5" Type="http://schemas.openxmlformats.org/officeDocument/2006/relationships/tags" Target="../tags/tag31.xml"/><Relationship Id="rId4" Type="http://schemas.openxmlformats.org/officeDocument/2006/relationships/image" Target="../media/image32.png"/><Relationship Id="rId3" Type="http://schemas.openxmlformats.org/officeDocument/2006/relationships/tags" Target="../tags/tag30.xml"/><Relationship Id="rId2" Type="http://schemas.openxmlformats.org/officeDocument/2006/relationships/image" Target="../media/image31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5.xml"/><Relationship Id="rId12" Type="http://schemas.openxmlformats.org/officeDocument/2006/relationships/image" Target="../media/image35.png"/><Relationship Id="rId11" Type="http://schemas.openxmlformats.org/officeDocument/2006/relationships/tags" Target="../tags/tag34.xml"/><Relationship Id="rId10" Type="http://schemas.openxmlformats.org/officeDocument/2006/relationships/image" Target="../media/image34.png"/><Relationship Id="rId1" Type="http://schemas.openxmlformats.org/officeDocument/2006/relationships/tags" Target="../tags/tag2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40.xml"/><Relationship Id="rId7" Type="http://schemas.openxmlformats.org/officeDocument/2006/relationships/image" Target="../media/image37.png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../media/image36.png"/><Relationship Id="rId3" Type="http://schemas.openxmlformats.org/officeDocument/2006/relationships/tags" Target="../tags/tag37.xml"/><Relationship Id="rId2" Type="http://schemas.openxmlformats.org/officeDocument/2006/relationships/image" Target="../media/image14.png"/><Relationship Id="rId1" Type="http://schemas.openxmlformats.org/officeDocument/2006/relationships/tags" Target="../tags/tag3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image" Target="../media/image41.png"/><Relationship Id="rId7" Type="http://schemas.openxmlformats.org/officeDocument/2006/relationships/tags" Target="../tags/tag44.xml"/><Relationship Id="rId6" Type="http://schemas.openxmlformats.org/officeDocument/2006/relationships/image" Target="../media/image40.png"/><Relationship Id="rId5" Type="http://schemas.openxmlformats.org/officeDocument/2006/relationships/tags" Target="../tags/tag43.xml"/><Relationship Id="rId4" Type="http://schemas.openxmlformats.org/officeDocument/2006/relationships/image" Target="../media/image39.png"/><Relationship Id="rId3" Type="http://schemas.openxmlformats.org/officeDocument/2006/relationships/tags" Target="../tags/tag42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4.png"/><Relationship Id="rId2" Type="http://schemas.openxmlformats.org/officeDocument/2006/relationships/image" Target="../media/image38.png"/><Relationship Id="rId19" Type="http://schemas.openxmlformats.org/officeDocument/2006/relationships/tags" Target="../tags/tag50.xml"/><Relationship Id="rId18" Type="http://schemas.openxmlformats.org/officeDocument/2006/relationships/image" Target="../media/image46.png"/><Relationship Id="rId17" Type="http://schemas.openxmlformats.org/officeDocument/2006/relationships/tags" Target="../tags/tag49.xml"/><Relationship Id="rId16" Type="http://schemas.openxmlformats.org/officeDocument/2006/relationships/image" Target="../media/image45.png"/><Relationship Id="rId15" Type="http://schemas.openxmlformats.org/officeDocument/2006/relationships/tags" Target="../tags/tag48.xml"/><Relationship Id="rId14" Type="http://schemas.openxmlformats.org/officeDocument/2006/relationships/image" Target="../media/image44.png"/><Relationship Id="rId13" Type="http://schemas.openxmlformats.org/officeDocument/2006/relationships/tags" Target="../tags/tag47.xml"/><Relationship Id="rId12" Type="http://schemas.openxmlformats.org/officeDocument/2006/relationships/image" Target="../media/image43.png"/><Relationship Id="rId11" Type="http://schemas.openxmlformats.org/officeDocument/2006/relationships/tags" Target="../tags/tag46.xml"/><Relationship Id="rId10" Type="http://schemas.openxmlformats.org/officeDocument/2006/relationships/image" Target="../media/image42.png"/><Relationship Id="rId1" Type="http://schemas.openxmlformats.org/officeDocument/2006/relationships/tags" Target="../tags/tag4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image" Target="../media/image14.png"/><Relationship Id="rId7" Type="http://schemas.openxmlformats.org/officeDocument/2006/relationships/tags" Target="../tags/tag54.xml"/><Relationship Id="rId6" Type="http://schemas.openxmlformats.org/officeDocument/2006/relationships/image" Target="../media/image49.png"/><Relationship Id="rId5" Type="http://schemas.openxmlformats.org/officeDocument/2006/relationships/tags" Target="../tags/tag53.xml"/><Relationship Id="rId4" Type="http://schemas.openxmlformats.org/officeDocument/2006/relationships/image" Target="../media/image48.png"/><Relationship Id="rId3" Type="http://schemas.openxmlformats.org/officeDocument/2006/relationships/tags" Target="../tags/tag52.x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image" Target="../media/image52.png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image" Target="../media/image51.png"/><Relationship Id="rId13" Type="http://schemas.openxmlformats.org/officeDocument/2006/relationships/tags" Target="../tags/tag57.xml"/><Relationship Id="rId12" Type="http://schemas.openxmlformats.org/officeDocument/2006/relationships/image" Target="../media/image35.png"/><Relationship Id="rId11" Type="http://schemas.openxmlformats.org/officeDocument/2006/relationships/tags" Target="../tags/tag56.xml"/><Relationship Id="rId10" Type="http://schemas.openxmlformats.org/officeDocument/2006/relationships/image" Target="../media/image50.png"/><Relationship Id="rId1" Type="http://schemas.openxmlformats.org/officeDocument/2006/relationships/tags" Target="../tags/tag5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tags" Target="../tags/tag65.xml"/><Relationship Id="rId7" Type="http://schemas.openxmlformats.org/officeDocument/2006/relationships/image" Target="../media/image55.png"/><Relationship Id="rId6" Type="http://schemas.openxmlformats.org/officeDocument/2006/relationships/tags" Target="../tags/tag64.xml"/><Relationship Id="rId5" Type="http://schemas.openxmlformats.org/officeDocument/2006/relationships/image" Target="../media/image54.jpeg"/><Relationship Id="rId4" Type="http://schemas.openxmlformats.org/officeDocument/2006/relationships/image" Target="../media/image14.png"/><Relationship Id="rId3" Type="http://schemas.openxmlformats.org/officeDocument/2006/relationships/tags" Target="../tags/tag63.xml"/><Relationship Id="rId2" Type="http://schemas.openxmlformats.org/officeDocument/2006/relationships/image" Target="../media/image53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8.png"/><Relationship Id="rId12" Type="http://schemas.openxmlformats.org/officeDocument/2006/relationships/tags" Target="../tags/tag67.xml"/><Relationship Id="rId11" Type="http://schemas.openxmlformats.org/officeDocument/2006/relationships/image" Target="../media/image57.png"/><Relationship Id="rId10" Type="http://schemas.openxmlformats.org/officeDocument/2006/relationships/tags" Target="../tags/tag66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60.png"/><Relationship Id="rId5" Type="http://schemas.openxmlformats.org/officeDocument/2006/relationships/tags" Target="../tags/tag70.xml"/><Relationship Id="rId4" Type="http://schemas.openxmlformats.org/officeDocument/2006/relationships/image" Target="../media/image14.png"/><Relationship Id="rId3" Type="http://schemas.openxmlformats.org/officeDocument/2006/relationships/tags" Target="../tags/tag69.xml"/><Relationship Id="rId2" Type="http://schemas.openxmlformats.org/officeDocument/2006/relationships/image" Target="../media/image59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3.xml"/><Relationship Id="rId1" Type="http://schemas.openxmlformats.org/officeDocument/2006/relationships/tags" Target="../tags/tag6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../media/image64.png"/><Relationship Id="rId7" Type="http://schemas.openxmlformats.org/officeDocument/2006/relationships/tags" Target="../tags/tag77.xml"/><Relationship Id="rId6" Type="http://schemas.openxmlformats.org/officeDocument/2006/relationships/image" Target="../media/image63.png"/><Relationship Id="rId5" Type="http://schemas.openxmlformats.org/officeDocument/2006/relationships/tags" Target="../tags/tag76.xml"/><Relationship Id="rId4" Type="http://schemas.openxmlformats.org/officeDocument/2006/relationships/image" Target="../media/image62.png"/><Relationship Id="rId3" Type="http://schemas.openxmlformats.org/officeDocument/2006/relationships/tags" Target="../tags/tag75.xml"/><Relationship Id="rId2" Type="http://schemas.openxmlformats.org/officeDocument/2006/relationships/image" Target="../media/image14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tags" Target="../tags/tag82.xml"/><Relationship Id="rId7" Type="http://schemas.openxmlformats.org/officeDocument/2006/relationships/image" Target="../media/image68.png"/><Relationship Id="rId6" Type="http://schemas.openxmlformats.org/officeDocument/2006/relationships/tags" Target="../tags/tag81.xml"/><Relationship Id="rId5" Type="http://schemas.openxmlformats.org/officeDocument/2006/relationships/image" Target="../media/image67.png"/><Relationship Id="rId4" Type="http://schemas.openxmlformats.org/officeDocument/2006/relationships/tags" Target="../tags/tag80.xml"/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70.png"/><Relationship Id="rId10" Type="http://schemas.openxmlformats.org/officeDocument/2006/relationships/tags" Target="../tags/tag83.xml"/><Relationship Id="rId1" Type="http://schemas.openxmlformats.org/officeDocument/2006/relationships/tags" Target="../tags/tag7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image" Target="../media/image73.png"/><Relationship Id="rId7" Type="http://schemas.openxmlformats.org/officeDocument/2006/relationships/tags" Target="../tags/tag87.xml"/><Relationship Id="rId6" Type="http://schemas.openxmlformats.org/officeDocument/2006/relationships/image" Target="../media/image72.png"/><Relationship Id="rId5" Type="http://schemas.openxmlformats.org/officeDocument/2006/relationships/tags" Target="../tags/tag86.xml"/><Relationship Id="rId4" Type="http://schemas.openxmlformats.org/officeDocument/2006/relationships/image" Target="../media/image71.png"/><Relationship Id="rId3" Type="http://schemas.openxmlformats.org/officeDocument/2006/relationships/tags" Target="../tags/tag85.xml"/><Relationship Id="rId2" Type="http://schemas.openxmlformats.org/officeDocument/2006/relationships/image" Target="../media/image1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74.png"/><Relationship Id="rId1" Type="http://schemas.openxmlformats.org/officeDocument/2006/relationships/tags" Target="../tags/tag8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robability_dice.jpg"/>
          <p:cNvPicPr>
            <a:picLocks noChangeAspect="1"/>
          </p:cNvPicPr>
          <p:nvPr/>
        </p:nvPicPr>
        <p:blipFill>
          <a:blip r:embed="rId1"/>
          <a:srcRect r="4839" b="6452"/>
          <a:stretch>
            <a:fillRect/>
          </a:stretch>
        </p:blipFill>
        <p:spPr>
          <a:xfrm>
            <a:off x="6146800" y="4191000"/>
            <a:ext cx="2997200" cy="2209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641792" y="1143000"/>
            <a:ext cx="2373630" cy="5219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Spring</a:t>
            </a:r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, </a:t>
            </a:r>
            <a:r>
              <a:rPr lang="en-US" sz="2800" b="1" spc="5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2025</a:t>
            </a:r>
            <a:endParaRPr lang="en-US" sz="28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79649" y="3962400"/>
            <a:ext cx="5943600" cy="1219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1225006" y="4028182"/>
            <a:ext cx="616639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smtClean="0">
                <a:ln w="1905"/>
                <a:solidFill>
                  <a:srgbClr val="00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Lecture 3: Random Variables &amp;</a:t>
            </a:r>
            <a:endParaRPr lang="en-US" sz="3200" b="1" cap="none" spc="0" smtClean="0">
              <a:ln w="1905"/>
              <a:solidFill>
                <a:srgbClr val="003399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algn="ctr"/>
            <a:r>
              <a:rPr lang="en-US" sz="3200" b="1" cap="none" spc="0" smtClean="0">
                <a:ln w="1905"/>
                <a:solidFill>
                  <a:srgbClr val="003399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Distributions – Part 1</a:t>
            </a:r>
            <a:endParaRPr lang="en-US" sz="3200" b="1" cap="none" spc="0">
              <a:ln w="1905"/>
              <a:solidFill>
                <a:srgbClr val="003399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Contents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grpSp>
        <p:nvGrpSpPr>
          <p:cNvPr id="5" name="Group 4"/>
          <p:cNvGrpSpPr/>
          <p:nvPr/>
        </p:nvGrpSpPr>
        <p:grpSpPr bwMode="auto">
          <a:xfrm>
            <a:off x="609600" y="1304924"/>
            <a:ext cx="3652842" cy="523876"/>
            <a:chOff x="240" y="1632"/>
            <a:chExt cx="2301" cy="330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240" y="1700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00CC">
                    <a:alpha val="25999"/>
                  </a:srgbClr>
                </a:gs>
                <a:gs pos="100000">
                  <a:srgbClr val="0000CC">
                    <a:gamma/>
                    <a:shade val="46275"/>
                    <a:invGamma/>
                    <a:alpha val="85001"/>
                  </a:srgbClr>
                </a:gs>
              </a:gsLst>
              <a:path path="rect">
                <a:fillToRect r="100000" b="10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1</a:t>
              </a: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76" y="1632"/>
              <a:ext cx="1965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dirty="0" smtClean="0"/>
                <a:t>Random Variables</a:t>
              </a:r>
              <a:endParaRPr lang="en-US" sz="2800" dirty="0"/>
            </a:p>
          </p:txBody>
        </p:sp>
      </p:grpSp>
      <p:grpSp>
        <p:nvGrpSpPr>
          <p:cNvPr id="26" name="Group 16"/>
          <p:cNvGrpSpPr/>
          <p:nvPr/>
        </p:nvGrpSpPr>
        <p:grpSpPr bwMode="auto">
          <a:xfrm>
            <a:off x="609600" y="3810000"/>
            <a:ext cx="2257428" cy="523876"/>
            <a:chOff x="240" y="2304"/>
            <a:chExt cx="1422" cy="330"/>
          </a:xfrm>
        </p:grpSpPr>
        <p:sp>
          <p:nvSpPr>
            <p:cNvPr id="29" name="Oval 17"/>
            <p:cNvSpPr>
              <a:spLocks noChangeArrowheads="1"/>
            </p:cNvSpPr>
            <p:nvPr/>
          </p:nvSpPr>
          <p:spPr bwMode="auto">
            <a:xfrm>
              <a:off x="240" y="2371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00CC">
                    <a:alpha val="25999"/>
                  </a:srgbClr>
                </a:gs>
                <a:gs pos="100000">
                  <a:srgbClr val="0000CC">
                    <a:gamma/>
                    <a:shade val="46275"/>
                    <a:invGamma/>
                    <a:alpha val="85001"/>
                  </a:srgbClr>
                </a:gs>
              </a:gsLst>
              <a:path path="rect">
                <a:fillToRect r="100000" b="10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 smtClean="0">
                  <a:solidFill>
                    <a:schemeClr val="bg1"/>
                  </a:solidFill>
                </a:rPr>
                <a:t>4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 Box 18"/>
            <p:cNvSpPr txBox="1">
              <a:spLocks noChangeArrowheads="1"/>
            </p:cNvSpPr>
            <p:nvPr/>
          </p:nvSpPr>
          <p:spPr bwMode="auto">
            <a:xfrm>
              <a:off x="576" y="2304"/>
              <a:ext cx="1086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dirty="0" smtClean="0"/>
                <a:t>Summary</a:t>
              </a:r>
              <a:endParaRPr lang="en-US" sz="2800" dirty="0"/>
            </a:p>
          </p:txBody>
        </p:sp>
      </p:grpSp>
      <p:grpSp>
        <p:nvGrpSpPr>
          <p:cNvPr id="21" name="Group 20"/>
          <p:cNvGrpSpPr/>
          <p:nvPr/>
        </p:nvGrpSpPr>
        <p:grpSpPr bwMode="auto">
          <a:xfrm>
            <a:off x="609600" y="2971800"/>
            <a:ext cx="4618043" cy="523876"/>
            <a:chOff x="240" y="1632"/>
            <a:chExt cx="2909" cy="330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240" y="1700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00CC">
                    <a:alpha val="25999"/>
                  </a:srgbClr>
                </a:gs>
                <a:gs pos="100000">
                  <a:srgbClr val="0000CC">
                    <a:gamma/>
                    <a:shade val="46275"/>
                    <a:invGamma/>
                    <a:alpha val="85001"/>
                  </a:srgbClr>
                </a:gs>
              </a:gsLst>
              <a:path path="rect">
                <a:fillToRect r="100000" b="10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3</a:t>
              </a: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 Box 6"/>
            <p:cNvSpPr txBox="1">
              <a:spLocks noChangeArrowheads="1"/>
            </p:cNvSpPr>
            <p:nvPr/>
          </p:nvSpPr>
          <p:spPr bwMode="auto">
            <a:xfrm>
              <a:off x="576" y="1632"/>
              <a:ext cx="2573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dirty="0" smtClean="0"/>
                <a:t>Continuous Distributions</a:t>
              </a:r>
              <a:endParaRPr lang="en-US" sz="2800" dirty="0"/>
            </a:p>
          </p:txBody>
        </p:sp>
      </p:grpSp>
      <p:grpSp>
        <p:nvGrpSpPr>
          <p:cNvPr id="16" name="Group 15"/>
          <p:cNvGrpSpPr/>
          <p:nvPr/>
        </p:nvGrpSpPr>
        <p:grpSpPr bwMode="auto">
          <a:xfrm>
            <a:off x="609600" y="2133600"/>
            <a:ext cx="4116393" cy="523876"/>
            <a:chOff x="240" y="1632"/>
            <a:chExt cx="2593" cy="330"/>
          </a:xfrm>
        </p:grpSpPr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240" y="1700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00CC">
                    <a:alpha val="25999"/>
                  </a:srgbClr>
                </a:gs>
                <a:gs pos="100000">
                  <a:srgbClr val="0000CC">
                    <a:gamma/>
                    <a:shade val="46275"/>
                    <a:invGamma/>
                    <a:alpha val="85001"/>
                  </a:srgbClr>
                </a:gs>
              </a:gsLst>
              <a:path path="rect">
                <a:fillToRect r="100000" b="10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2</a:t>
              </a: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576" y="1632"/>
              <a:ext cx="2257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dirty="0" smtClean="0"/>
                <a:t>Discrete Distributions</a:t>
              </a:r>
              <a:endParaRPr 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0" y="3886200"/>
            <a:ext cx="9144000" cy="2133600"/>
          </a:xfrm>
        </p:spPr>
        <p:txBody>
          <a:bodyPr anchor="t"/>
          <a:lstStyle/>
          <a:p>
            <a:pPr marL="2291080" indent="-462280">
              <a:buFont typeface="+mj-lt"/>
              <a:buAutoNum type="arabicPeriod"/>
            </a:pPr>
            <a:r>
              <a:rPr lang="en-US" sz="2400" dirty="0" smtClean="0">
                <a:solidFill>
                  <a:srgbClr val="003399"/>
                </a:solidFill>
              </a:rPr>
              <a:t>Definition of a Random Variable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291080" indent="-462280">
              <a:buFont typeface="+mj-lt"/>
              <a:buAutoNum type="arabicPeriod"/>
            </a:pPr>
            <a:r>
              <a:rPr lang="en-US" sz="2400" dirty="0" smtClean="0">
                <a:solidFill>
                  <a:srgbClr val="003399"/>
                </a:solidFill>
              </a:rPr>
              <a:t>Distribution of a Random Variable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291080" indent="-462280">
              <a:buFont typeface="+mj-lt"/>
              <a:buAutoNum type="arabicPeriod"/>
            </a:pPr>
            <a:r>
              <a:rPr lang="en-US" sz="2400" dirty="0" smtClean="0">
                <a:solidFill>
                  <a:srgbClr val="003399"/>
                </a:solidFill>
              </a:rPr>
              <a:t>Discrete Distributions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291080" indent="-462280">
              <a:buFont typeface="+mj-lt"/>
              <a:buAutoNum type="arabicPeriod"/>
            </a:pPr>
            <a:r>
              <a:rPr lang="en-US" sz="2400" dirty="0" smtClean="0">
                <a:solidFill>
                  <a:srgbClr val="003399"/>
                </a:solidFill>
              </a:rPr>
              <a:t>Uniform Distributions on Integers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291080" indent="-462280">
              <a:buFont typeface="+mj-lt"/>
              <a:buAutoNum type="arabicPeriod"/>
            </a:pPr>
            <a:r>
              <a:rPr lang="en-US" sz="2400" dirty="0" smtClean="0">
                <a:solidFill>
                  <a:srgbClr val="003399"/>
                </a:solidFill>
              </a:rPr>
              <a:t>Binomial Distributions</a:t>
            </a:r>
            <a:endParaRPr lang="vi-VN" sz="2400" dirty="0" smtClean="0">
              <a:solidFill>
                <a:srgbClr val="003399"/>
              </a:solidFill>
            </a:endParaRPr>
          </a:p>
          <a:p>
            <a:pPr marL="2291080" indent="-462280">
              <a:buFont typeface="+mj-lt"/>
              <a:buAutoNum type="arabicPeriod"/>
            </a:pPr>
            <a:endParaRPr lang="en-US" sz="2400" dirty="0" smtClean="0">
              <a:solidFill>
                <a:srgbClr val="0033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1828800"/>
            <a:ext cx="9144000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3399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Random variables &amp;</a:t>
            </a:r>
            <a:endParaRPr lang="en-US" sz="50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3399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  <a:p>
            <a:pPr algn="ctr"/>
            <a:r>
              <a:rPr lang="en-US" sz="5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3399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Discrete distribution</a:t>
            </a:r>
            <a:endParaRPr lang="vi-VN" sz="5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3399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 txBox="1"/>
          <p:nvPr/>
        </p:nvSpPr>
        <p:spPr bwMode="auto">
          <a:xfrm>
            <a:off x="4648200" y="2590800"/>
            <a:ext cx="4495800" cy="3124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800" dirty="0" smtClean="0"/>
              <a:t>A random variable can be thought of as being generated from a function that maps each outcome in a sample space     onto the real number line R, as illustrated in the Figure.</a:t>
            </a:r>
            <a:endParaRPr kumimoji="0" lang="vi-VN" sz="28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Definition of Random Variables</a:t>
            </a:r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1676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CC"/>
                </a:solidFill>
              </a:rPr>
              <a:t>random variable </a:t>
            </a:r>
            <a:r>
              <a:rPr lang="en-US" dirty="0" smtClean="0"/>
              <a:t>is obtained by assigning a numerical value to each outcome of a particular experiment.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B80DFE4F-5F97-4DF1-9575-34F2E33B1CCB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15200" y="4364666"/>
            <a:ext cx="263952" cy="304800"/>
          </a:xfrm>
          <a:prstGeom prst="rect">
            <a:avLst/>
          </a:prstGeom>
        </p:spPr>
      </p:pic>
      <p:pic>
        <p:nvPicPr>
          <p:cNvPr id="9" name="Picture 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628340"/>
            <a:ext cx="4648200" cy="3315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Definition of Random Variables</a:t>
            </a:r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2667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Example 1</a:t>
            </a:r>
            <a:r>
              <a:rPr lang="en-US" sz="2000" dirty="0" smtClean="0"/>
              <a:t>: The sample space for the machine breakdown problem is </a:t>
            </a: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>
                <a:solidFill>
                  <a:srgbClr val="0000CC"/>
                </a:solidFill>
              </a:rPr>
              <a:t> = {electrical, mechanical, misuse}</a:t>
            </a:r>
            <a:endParaRPr lang="en-US" sz="2000" dirty="0" smtClean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and each of these failures may be associated with a repair cost. For example, suppose that electrical failures generally cost an average of </a:t>
            </a:r>
            <a:r>
              <a:rPr lang="en-US" sz="2000" dirty="0" smtClean="0">
                <a:solidFill>
                  <a:srgbClr val="0000CC"/>
                </a:solidFill>
              </a:rPr>
              <a:t>$200 </a:t>
            </a:r>
            <a:r>
              <a:rPr lang="en-US" sz="2000" dirty="0" smtClean="0"/>
              <a:t>to repair, mechanical failures have an average repair cost of </a:t>
            </a:r>
            <a:r>
              <a:rPr lang="en-US" sz="2000" dirty="0" smtClean="0">
                <a:solidFill>
                  <a:srgbClr val="0000CC"/>
                </a:solidFill>
              </a:rPr>
              <a:t>$350</a:t>
            </a:r>
            <a:r>
              <a:rPr lang="en-US" sz="2000" dirty="0" smtClean="0"/>
              <a:t>, and operator misuse failures have an average repair cost of only </a:t>
            </a:r>
            <a:r>
              <a:rPr lang="en-US" sz="2000" dirty="0" smtClean="0">
                <a:solidFill>
                  <a:srgbClr val="0000CC"/>
                </a:solidFill>
              </a:rPr>
              <a:t>$50</a:t>
            </a:r>
            <a:r>
              <a:rPr lang="en-US" sz="2000" dirty="0" smtClean="0"/>
              <a:t>. These repair costs generate a random variable cost, as illustrated in the Figure, which has a state space of </a:t>
            </a:r>
            <a:r>
              <a:rPr lang="en-US" sz="2000" dirty="0" smtClean="0">
                <a:solidFill>
                  <a:srgbClr val="0000CC"/>
                </a:solidFill>
              </a:rPr>
              <a:t>{50, 200, 350}</a:t>
            </a:r>
            <a:r>
              <a:rPr lang="en-US" sz="2000" dirty="0" smtClean="0"/>
              <a:t>.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dirty="0" smtClean="0"/>
              <a:t>Page </a:t>
            </a:r>
            <a:fld id="{B80DFE4F-5F97-4DF1-9575-34F2E33B1CCB}" type="slidenum">
              <a:rPr lang="en-US" smtClean="0"/>
            </a:fld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62200" y="1143000"/>
            <a:ext cx="218388" cy="252185"/>
          </a:xfrm>
          <a:prstGeom prst="rect">
            <a:avLst/>
          </a:prstGeom>
        </p:spPr>
      </p:pic>
      <p:sp>
        <p:nvSpPr>
          <p:cNvPr id="10" name="Content Placeholder 5"/>
          <p:cNvSpPr txBox="1"/>
          <p:nvPr/>
        </p:nvSpPr>
        <p:spPr bwMode="auto">
          <a:xfrm>
            <a:off x="5334000" y="3429000"/>
            <a:ext cx="3810000" cy="2819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000" dirty="0" smtClean="0">
                <a:solidFill>
                  <a:srgbClr val="0000CC"/>
                </a:solidFill>
              </a:rPr>
              <a:t>Cost is a random variable </a:t>
            </a:r>
            <a:r>
              <a:rPr lang="en-US" sz="2000" dirty="0" smtClean="0"/>
              <a:t>because its values 50, 200, and 350 are numbers. The breakdown cause, defined to be electrical, mechanical, or operator misuse, is not considered to be a random variable because its values are not numerical.</a:t>
            </a:r>
            <a:endParaRPr kumimoji="0" lang="vi-VN" sz="20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199" y="3429000"/>
            <a:ext cx="5116009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Definition of Random Variables</a:t>
            </a:r>
            <a:endParaRPr lang="vi-VN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1905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Example 2</a:t>
            </a:r>
            <a:r>
              <a:rPr lang="en-US" sz="2000" dirty="0" smtClean="0"/>
              <a:t>: Recall the “power plant operation” example. Suppose that interest is directed only at the number of plants that are generating electricity. This creates a random variable</a:t>
            </a: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>
                <a:solidFill>
                  <a:srgbClr val="0000CC"/>
                </a:solidFill>
              </a:rPr>
              <a:t>X = number of power plants generating electricity</a:t>
            </a:r>
            <a:endParaRPr lang="en-US" sz="2000" dirty="0" smtClean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which can take the values 0, 1, 2, and 3, as shown in the following Figure.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B80DFE4F-5F97-4DF1-9575-34F2E33B1CCB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10" name="Content Placeholder 5"/>
          <p:cNvSpPr txBox="1"/>
          <p:nvPr/>
        </p:nvSpPr>
        <p:spPr bwMode="auto">
          <a:xfrm>
            <a:off x="5029200" y="3810000"/>
            <a:ext cx="3657600" cy="106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000" dirty="0" smtClean="0">
                <a:solidFill>
                  <a:srgbClr val="0000CC"/>
                </a:solidFill>
              </a:rPr>
              <a:t>X = number of power plants generating electricity</a:t>
            </a:r>
            <a:endParaRPr kumimoji="0" lang="vi-VN" sz="20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1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2400204"/>
            <a:ext cx="4267200" cy="4071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Random Variables</a:t>
            </a:r>
            <a:endParaRPr lang="vi-V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724400" y="838200"/>
            <a:ext cx="4267200" cy="54864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Example 3</a:t>
            </a:r>
            <a:r>
              <a:rPr lang="en-US" sz="2000" dirty="0" smtClean="0"/>
              <a:t>: The score obtained from the roll of a die can be thought of as a </a:t>
            </a:r>
            <a:r>
              <a:rPr lang="en-US" sz="2000" dirty="0" smtClean="0">
                <a:solidFill>
                  <a:srgbClr val="0000CC"/>
                </a:solidFill>
              </a:rPr>
              <a:t>random variable </a:t>
            </a:r>
            <a:r>
              <a:rPr lang="en-US" sz="2000" dirty="0" smtClean="0"/>
              <a:t>taking the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values 1 to 6.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If two dice are rolled, a </a:t>
            </a:r>
            <a:r>
              <a:rPr lang="en-US" sz="2000" dirty="0" smtClean="0">
                <a:solidFill>
                  <a:srgbClr val="0000CC"/>
                </a:solidFill>
              </a:rPr>
              <a:t>random variable</a:t>
            </a:r>
            <a:r>
              <a:rPr lang="en-US" sz="2000" dirty="0" smtClean="0"/>
              <a:t> can be defined to be the sum of the scores, taking the values 2 to 12.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Figure illustrates a </a:t>
            </a:r>
            <a:r>
              <a:rPr lang="en-US" sz="2000" dirty="0" smtClean="0">
                <a:solidFill>
                  <a:srgbClr val="0000CC"/>
                </a:solidFill>
              </a:rPr>
              <a:t>random variable</a:t>
            </a:r>
            <a:r>
              <a:rPr lang="en-US" sz="2000" dirty="0" smtClean="0"/>
              <a:t> defined to be the positive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difference between the scores obtained from two dice, taking the values 0 to 5.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i="1" dirty="0" smtClean="0">
                <a:solidFill>
                  <a:srgbClr val="0000CC"/>
                </a:solidFill>
              </a:rPr>
              <a:t>discrete random variables</a:t>
            </a:r>
            <a:endParaRPr lang="en-US" sz="20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B80DFE4F-5F97-4DF1-9575-34F2E33B1CCB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7" name="Picture 1"/>
          <p:cNvPicPr/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838200"/>
            <a:ext cx="4652467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Arrow Connector 10"/>
          <p:cNvCxnSpPr/>
          <p:nvPr/>
        </p:nvCxnSpPr>
        <p:spPr>
          <a:xfrm rot="10800000" flipV="1">
            <a:off x="3276600" y="5715000"/>
            <a:ext cx="1524000" cy="304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0000CC"/>
                </a:solidFill>
              </a:rPr>
              <a:t>random variable </a:t>
            </a:r>
            <a:r>
              <a:rPr lang="en-US" dirty="0" smtClean="0"/>
              <a:t>is a function that associates a real number with each element in the sample space    .</a:t>
            </a:r>
            <a:endParaRPr lang="en-US" dirty="0" smtClean="0"/>
          </a:p>
          <a:p>
            <a:endParaRPr lang="en-US" dirty="0" smtClean="0">
              <a:solidFill>
                <a:srgbClr val="0000CC"/>
              </a:solidFill>
            </a:endParaRPr>
          </a:p>
          <a:p>
            <a:endParaRPr lang="en-US" dirty="0" smtClean="0">
              <a:solidFill>
                <a:srgbClr val="0000CC"/>
              </a:solidFill>
            </a:endParaRPr>
          </a:p>
          <a:p>
            <a:r>
              <a:rPr lang="en-US" dirty="0" smtClean="0">
                <a:solidFill>
                  <a:srgbClr val="0000CC"/>
                </a:solidFill>
              </a:rPr>
              <a:t>Random variables </a:t>
            </a:r>
            <a:r>
              <a:rPr lang="en-US" dirty="0" smtClean="0"/>
              <a:t>are denoted by capital letters and the values they take (their outcomes) with lowercase.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09732" y="1752600"/>
            <a:ext cx="302792" cy="349651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52600" y="2667000"/>
            <a:ext cx="6003985" cy="386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 of a 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00CC"/>
                </a:solidFill>
              </a:rPr>
              <a:t>Probability Mass Function</a:t>
            </a:r>
            <a:r>
              <a:rPr lang="en-US" dirty="0" smtClean="0"/>
              <a:t> (</a:t>
            </a:r>
            <a:r>
              <a:rPr lang="en-US" dirty="0" err="1" smtClean="0"/>
              <a:t>p.m.f</a:t>
            </a:r>
            <a:r>
              <a:rPr lang="en-US" dirty="0" smtClean="0"/>
              <a:t>) of a random </a:t>
            </a:r>
            <a:r>
              <a:rPr lang="en-US" smtClean="0"/>
              <a:t>variable </a:t>
            </a:r>
            <a:r>
              <a:rPr lang="en-US" smtClean="0">
                <a:solidFill>
                  <a:srgbClr val="0000CC"/>
                </a:solidFill>
              </a:rPr>
              <a:t>    </a:t>
            </a:r>
            <a:r>
              <a:rPr lang="en-US" smtClean="0"/>
              <a:t>is </a:t>
            </a:r>
            <a:r>
              <a:rPr lang="en-US" dirty="0" smtClean="0"/>
              <a:t>a set of </a:t>
            </a:r>
            <a:r>
              <a:rPr lang="en-US" smtClean="0"/>
              <a:t>probability values </a:t>
            </a:r>
            <a:r>
              <a:rPr lang="en-US" dirty="0" smtClean="0"/>
              <a:t>assigned to each of the </a:t>
            </a:r>
            <a:r>
              <a:rPr lang="en-US" smtClean="0"/>
              <a:t>values     taken </a:t>
            </a:r>
            <a:r>
              <a:rPr lang="en-US" dirty="0" smtClean="0"/>
              <a:t>by the </a:t>
            </a:r>
            <a:r>
              <a:rPr lang="en-US" dirty="0" smtClean="0">
                <a:solidFill>
                  <a:srgbClr val="0000CC"/>
                </a:solidFill>
              </a:rPr>
              <a:t>discrete random variable</a:t>
            </a:r>
            <a:r>
              <a:rPr lang="en-US" dirty="0" smtClean="0"/>
              <a:t>. These probability values must </a:t>
            </a:r>
            <a:r>
              <a:rPr lang="en-US" smtClean="0"/>
              <a:t>satisfy                 and</a:t>
            </a:r>
            <a:endParaRPr lang="en-US" dirty="0" smtClean="0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r>
              <a:rPr lang="en-US" smtClean="0"/>
              <a:t>The </a:t>
            </a:r>
            <a:r>
              <a:rPr lang="en-US" dirty="0" smtClean="0"/>
              <a:t>probability that the random variable takes the </a:t>
            </a:r>
            <a:r>
              <a:rPr lang="en-US" smtClean="0"/>
              <a:t>value     is said </a:t>
            </a:r>
            <a:r>
              <a:rPr lang="en-US" dirty="0" smtClean="0"/>
              <a:t>to </a:t>
            </a:r>
            <a:r>
              <a:rPr lang="en-US" smtClean="0"/>
              <a:t>be </a:t>
            </a:r>
            <a:r>
              <a:rPr lang="en-US" smtClean="0">
                <a:solidFill>
                  <a:srgbClr val="0000CC"/>
                </a:solidFill>
              </a:rPr>
              <a:t>   </a:t>
            </a:r>
            <a:r>
              <a:rPr lang="en-US" smtClean="0"/>
              <a:t>, </a:t>
            </a:r>
            <a:r>
              <a:rPr lang="en-US" dirty="0" smtClean="0"/>
              <a:t>and this is written</a:t>
            </a:r>
            <a:endParaRPr lang="en-US" dirty="0" smtClean="0"/>
          </a:p>
          <a:p>
            <a:pPr marL="0" indent="0">
              <a:buNone/>
            </a:pPr>
            <a:r>
              <a:rPr lang="en-US" smtClean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smtClean="0"/>
              <a:t>The </a:t>
            </a:r>
            <a:r>
              <a:rPr lang="en-US" smtClean="0">
                <a:solidFill>
                  <a:srgbClr val="0000CC"/>
                </a:solidFill>
              </a:rPr>
              <a:t>    </a:t>
            </a:r>
            <a:r>
              <a:rPr lang="en-US" smtClean="0"/>
              <a:t> </a:t>
            </a:r>
            <a:r>
              <a:rPr lang="en-US" dirty="0" smtClean="0"/>
              <a:t>is called </a:t>
            </a:r>
            <a:r>
              <a:rPr lang="en-US" smtClean="0"/>
              <a:t>probability function (p.f.) for 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07284" y="1350084"/>
            <a:ext cx="303650" cy="251201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315200" y="1420246"/>
            <a:ext cx="289848" cy="234638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879592" y="1905000"/>
            <a:ext cx="292608" cy="220836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20758" y="2819400"/>
            <a:ext cx="1609344" cy="317452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3000" y="5708962"/>
            <a:ext cx="289848" cy="234638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30750" y="5638800"/>
            <a:ext cx="303650" cy="251201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553200" y="2797431"/>
            <a:ext cx="1521010" cy="783969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036424" y="4549590"/>
            <a:ext cx="292608" cy="220836"/>
          </a:xfrm>
          <a:prstGeom prst="rect">
            <a:avLst/>
          </a:prstGeom>
        </p:spPr>
      </p:pic>
      <p:pic>
        <p:nvPicPr>
          <p:cNvPr id="21" name="Picture 20" descr="addin_tmp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35158" y="4539726"/>
            <a:ext cx="289848" cy="234638"/>
          </a:xfrm>
          <a:prstGeom prst="rect">
            <a:avLst/>
          </a:prstGeom>
        </p:spPr>
      </p:pic>
      <p:pic>
        <p:nvPicPr>
          <p:cNvPr id="23" name="Picture 22" descr="addin_t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3312313" y="5040299"/>
            <a:ext cx="2478887" cy="369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 of a 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smtClean="0"/>
              <a:t>The </a:t>
            </a:r>
            <a:r>
              <a:rPr lang="en-US" sz="2800" dirty="0" smtClean="0">
                <a:solidFill>
                  <a:srgbClr val="0000CC"/>
                </a:solidFill>
              </a:rPr>
              <a:t>probability mass function </a:t>
            </a:r>
            <a:r>
              <a:rPr lang="en-US" sz="2800" dirty="0" smtClean="0"/>
              <a:t>(</a:t>
            </a:r>
            <a:r>
              <a:rPr lang="en-US" sz="2800" dirty="0" err="1" smtClean="0"/>
              <a:t>p.m.f</a:t>
            </a:r>
            <a:r>
              <a:rPr lang="en-US" sz="2800" dirty="0" smtClean="0"/>
              <a:t>) is also referred to as the distribution of the </a:t>
            </a:r>
            <a:r>
              <a:rPr lang="en-US" sz="2800" dirty="0" smtClean="0">
                <a:solidFill>
                  <a:srgbClr val="0000CC"/>
                </a:solidFill>
              </a:rPr>
              <a:t>random variable</a:t>
            </a:r>
            <a:r>
              <a:rPr lang="en-US" sz="2800" dirty="0" smtClean="0"/>
              <a:t>. The probability mass function may typically be given in either </a:t>
            </a:r>
            <a:r>
              <a:rPr lang="en-US" sz="2800" dirty="0" smtClean="0">
                <a:solidFill>
                  <a:srgbClr val="0000CC"/>
                </a:solidFill>
              </a:rPr>
              <a:t>tabular</a:t>
            </a:r>
            <a:r>
              <a:rPr lang="en-US" sz="2800" dirty="0" smtClean="0"/>
              <a:t> or </a:t>
            </a:r>
            <a:r>
              <a:rPr lang="en-US" sz="2800" dirty="0" smtClean="0">
                <a:solidFill>
                  <a:srgbClr val="0000CC"/>
                </a:solidFill>
              </a:rPr>
              <a:t>graphical form </a:t>
            </a:r>
            <a:r>
              <a:rPr lang="en-US" sz="2800" dirty="0" smtClean="0"/>
              <a:t>as illustrated in the following examples.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5" name="Picture 1"/>
          <p:cNvPicPr/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3400" y="3429000"/>
            <a:ext cx="3124200" cy="1359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3124200"/>
            <a:ext cx="3937000" cy="188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52400" y="5257800"/>
            <a:ext cx="426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Tabular presentation of the probability mass function for machine breakdown costs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53000" y="5257800"/>
            <a:ext cx="3787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Line graph of the probability mass </a:t>
            </a:r>
            <a:endParaRPr lang="en-US" dirty="0" smtClean="0"/>
          </a:p>
          <a:p>
            <a:r>
              <a:rPr lang="en-US" dirty="0" smtClean="0"/>
              <a:t>function for machine breakdown costs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 of a 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19812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smtClean="0">
                <a:solidFill>
                  <a:srgbClr val="0000CC"/>
                </a:solidFill>
              </a:rPr>
              <a:t>Example 4</a:t>
            </a:r>
            <a:r>
              <a:rPr lang="en-US" sz="2800" smtClean="0"/>
              <a:t>: Suppose that the probability of having  accidents is</a:t>
            </a: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This is a valid probability mass function since</a:t>
            </a: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10" name="Picture 9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71800" y="1295400"/>
            <a:ext cx="2862589" cy="745322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48050" y="904775"/>
            <a:ext cx="184950" cy="165627"/>
          </a:xfrm>
          <a:prstGeom prst="rect">
            <a:avLst/>
          </a:prstGeom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2316" y="2667000"/>
            <a:ext cx="7825884" cy="1004805"/>
          </a:xfrm>
          <a:prstGeom prst="rect">
            <a:avLst/>
          </a:prstGeom>
        </p:spPr>
      </p:pic>
      <p:pic>
        <p:nvPicPr>
          <p:cNvPr id="8" name="Picture 1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3733800"/>
            <a:ext cx="5232400" cy="2685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029200" y="4177605"/>
            <a:ext cx="370325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smtClean="0"/>
              <a:t>so that the probability </a:t>
            </a:r>
            <a:endParaRPr lang="en-US" sz="2800" smtClean="0"/>
          </a:p>
          <a:p>
            <a:r>
              <a:rPr lang="en-US" sz="2800" smtClean="0"/>
              <a:t>values sum to 1.</a:t>
            </a:r>
            <a:endParaRPr lang="en-US" sz="2800" smtClean="0"/>
          </a:p>
          <a:p>
            <a:endParaRPr lang="vi-VN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 of a 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Distribution</a:t>
            </a:r>
            <a:r>
              <a:rPr lang="en-US" sz="2800" dirty="0" smtClean="0"/>
              <a:t>: </a:t>
            </a:r>
            <a:r>
              <a:rPr lang="en-US" sz="2800" smtClean="0"/>
              <a:t>Let   </a:t>
            </a:r>
            <a:r>
              <a:rPr lang="en-US" sz="2800" i="1" smtClean="0"/>
              <a:t> </a:t>
            </a:r>
            <a:r>
              <a:rPr lang="en-US" sz="2800" dirty="0" smtClean="0"/>
              <a:t>be a </a:t>
            </a:r>
            <a:r>
              <a:rPr lang="en-US" sz="2800" dirty="0" smtClean="0">
                <a:solidFill>
                  <a:srgbClr val="0000CC"/>
                </a:solidFill>
              </a:rPr>
              <a:t>random variable</a:t>
            </a:r>
            <a:r>
              <a:rPr lang="en-US" sz="2800" dirty="0" smtClean="0"/>
              <a:t>. The distribution </a:t>
            </a:r>
            <a:r>
              <a:rPr lang="en-US" sz="2800" smtClean="0"/>
              <a:t>of </a:t>
            </a:r>
            <a:r>
              <a:rPr lang="en-US" sz="2800" smtClean="0">
                <a:solidFill>
                  <a:srgbClr val="0000CC"/>
                </a:solidFill>
              </a:rPr>
              <a:t>  </a:t>
            </a:r>
            <a:r>
              <a:rPr lang="en-US" sz="2800" smtClean="0"/>
              <a:t>  is </a:t>
            </a:r>
            <a:r>
              <a:rPr lang="en-US" sz="2800" dirty="0" smtClean="0"/>
              <a:t>the collection of all probabilities of the </a:t>
            </a:r>
            <a:r>
              <a:rPr lang="en-US" sz="2800" smtClean="0"/>
              <a:t>form </a:t>
            </a:r>
            <a:r>
              <a:rPr lang="en-US" sz="2800" smtClean="0">
                <a:solidFill>
                  <a:srgbClr val="0000CC"/>
                </a:solidFill>
              </a:rPr>
              <a:t>                 </a:t>
            </a:r>
            <a:r>
              <a:rPr lang="en-US" sz="2800" smtClean="0"/>
              <a:t>for </a:t>
            </a:r>
            <a:r>
              <a:rPr lang="en-US" sz="2800" dirty="0" smtClean="0"/>
              <a:t>all </a:t>
            </a:r>
            <a:r>
              <a:rPr lang="en-US" sz="2800" smtClean="0"/>
              <a:t>sets </a:t>
            </a:r>
            <a:r>
              <a:rPr lang="en-US" sz="2800" smtClean="0">
                <a:solidFill>
                  <a:srgbClr val="0000CC"/>
                </a:solidFill>
              </a:rPr>
              <a:t>   </a:t>
            </a:r>
            <a:r>
              <a:rPr lang="en-US" sz="2800" smtClean="0"/>
              <a:t> </a:t>
            </a:r>
            <a:r>
              <a:rPr lang="en-US" sz="2800" dirty="0" smtClean="0"/>
              <a:t>of real numbers such </a:t>
            </a:r>
            <a:r>
              <a:rPr lang="en-US" sz="2800" smtClean="0"/>
              <a:t>that                is </a:t>
            </a:r>
            <a:r>
              <a:rPr lang="en-US" sz="2800" dirty="0" smtClean="0"/>
              <a:t>an </a:t>
            </a:r>
            <a:r>
              <a:rPr lang="en-US" sz="2800" smtClean="0"/>
              <a:t>event.</a:t>
            </a:r>
            <a:endParaRPr lang="en-US" sz="2800" smtClean="0"/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  <a:tabLst>
                <a:tab pos="52070" algn="l"/>
              </a:tabLst>
            </a:pPr>
            <a:r>
              <a:rPr lang="en-US" sz="2800" b="1" smtClean="0">
                <a:solidFill>
                  <a:srgbClr val="0000CC"/>
                </a:solidFill>
              </a:rPr>
              <a:t>Discrete </a:t>
            </a:r>
            <a:r>
              <a:rPr lang="en-US" sz="2800" b="1" dirty="0" smtClean="0">
                <a:solidFill>
                  <a:srgbClr val="0000CC"/>
                </a:solidFill>
              </a:rPr>
              <a:t>Distribution</a:t>
            </a:r>
            <a:r>
              <a:rPr lang="en-US" sz="2800" dirty="0" smtClean="0"/>
              <a:t>: We say that a random </a:t>
            </a:r>
            <a:r>
              <a:rPr lang="en-US" sz="2800" smtClean="0"/>
              <a:t>variable  </a:t>
            </a:r>
            <a:endParaRPr lang="en-US" sz="2800" smtClean="0"/>
          </a:p>
          <a:p>
            <a:pPr marL="0" indent="0">
              <a:buNone/>
              <a:tabLst>
                <a:tab pos="52070" algn="l"/>
              </a:tabLst>
            </a:pPr>
            <a:r>
              <a:rPr lang="en-US" sz="2800" smtClean="0"/>
              <a:t>    has </a:t>
            </a:r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0000CC"/>
                </a:solidFill>
              </a:rPr>
              <a:t>discrete distribution </a:t>
            </a:r>
            <a:r>
              <a:rPr lang="en-US" sz="2800" dirty="0" smtClean="0"/>
              <a:t>or </a:t>
            </a:r>
            <a:r>
              <a:rPr lang="en-US" sz="2800" smtClean="0"/>
              <a:t>that     </a:t>
            </a:r>
            <a:r>
              <a:rPr lang="en-US" sz="2800" dirty="0" smtClean="0"/>
              <a:t>is a discrete random variable </a:t>
            </a:r>
            <a:r>
              <a:rPr lang="en-US" sz="2800" smtClean="0"/>
              <a:t>if      </a:t>
            </a:r>
            <a:r>
              <a:rPr lang="en-US" sz="2800" dirty="0" smtClean="0"/>
              <a:t>can take only a finite number</a:t>
            </a:r>
            <a:endParaRPr lang="en-US" sz="2800" dirty="0" smtClean="0"/>
          </a:p>
          <a:p>
            <a:pPr marL="0" indent="0">
              <a:buNone/>
              <a:tabLst>
                <a:tab pos="52070" algn="l"/>
              </a:tabLst>
            </a:pPr>
            <a:r>
              <a:rPr lang="en-US" sz="2800" smtClean="0"/>
              <a:t>   </a:t>
            </a:r>
            <a:r>
              <a:rPr lang="en-US" sz="2800" dirty="0" smtClean="0"/>
              <a:t>of </a:t>
            </a:r>
            <a:r>
              <a:rPr lang="en-US" sz="2800" smtClean="0"/>
              <a:t>different values                       or</a:t>
            </a:r>
            <a:r>
              <a:rPr lang="en-US" sz="2800" dirty="0" smtClean="0"/>
              <a:t>, at most, an infinite sequence of </a:t>
            </a:r>
            <a:r>
              <a:rPr lang="en-US" sz="2800" smtClean="0"/>
              <a:t>different values</a:t>
            </a:r>
            <a:endParaRPr lang="en-US" sz="28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06126" y="1251474"/>
            <a:ext cx="303650" cy="251201"/>
          </a:xfrm>
          <a:prstGeom prst="rect">
            <a:avLst/>
          </a:prstGeom>
        </p:spPr>
      </p:pic>
      <p:pic>
        <p:nvPicPr>
          <p:cNvPr id="6" name="Picture 5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71800" y="826357"/>
            <a:ext cx="303650" cy="251201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8600" y="3657600"/>
            <a:ext cx="303650" cy="251201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4400" y="2057400"/>
            <a:ext cx="1385747" cy="367140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21716" y="1633368"/>
            <a:ext cx="1592781" cy="369901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67400" y="3636084"/>
            <a:ext cx="303650" cy="251201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00400" y="4060116"/>
            <a:ext cx="303650" cy="251201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039958" y="1665642"/>
            <a:ext cx="262243" cy="267764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385074" y="4637442"/>
            <a:ext cx="2073100" cy="234638"/>
          </a:xfrm>
          <a:prstGeom prst="rect">
            <a:avLst/>
          </a:prstGeom>
        </p:spPr>
      </p:pic>
      <p:pic>
        <p:nvPicPr>
          <p:cNvPr id="19" name="Picture 18" descr="addin_t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921190" y="5062368"/>
            <a:ext cx="2073100" cy="234638"/>
          </a:xfrm>
          <a:prstGeom prst="rect">
            <a:avLst/>
          </a:prstGeom>
        </p:spPr>
      </p:pic>
      <p:pic>
        <p:nvPicPr>
          <p:cNvPr id="21" name="Picture 20" descr="addin_tmp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67296" y="4572000"/>
            <a:ext cx="168388" cy="2594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Distribution of a 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sz="2800" b="1" smtClean="0">
                <a:solidFill>
                  <a:srgbClr val="0000CC"/>
                </a:solidFill>
              </a:rPr>
              <a:t>Bernoulli</a:t>
            </a:r>
            <a:r>
              <a:rPr lang="en-US" sz="2800" b="1" smtClean="0">
                <a:solidFill>
                  <a:srgbClr val="0000CC"/>
                </a:solidFill>
              </a:rPr>
              <a:t> Distribution</a:t>
            </a:r>
            <a:r>
              <a:rPr lang="en-US" sz="2800" smtClean="0"/>
              <a:t>: Let    be the probability of winning a bet and define            if we loose and </a:t>
            </a:r>
            <a:r>
              <a:rPr lang="en-US" sz="2800" smtClean="0">
                <a:solidFill>
                  <a:srgbClr val="0000CC"/>
                </a:solidFill>
              </a:rPr>
              <a:t>          </a:t>
            </a:r>
            <a:r>
              <a:rPr lang="en-US" sz="2800" smtClean="0"/>
              <a:t>if we win. Then     has the </a:t>
            </a:r>
            <a:r>
              <a:rPr lang="en-US" sz="2800" smtClean="0">
                <a:solidFill>
                  <a:srgbClr val="0000CC"/>
                </a:solidFill>
              </a:rPr>
              <a:t>Bernoulli distribution with</a:t>
            </a:r>
            <a:endParaRPr lang="en-US" sz="2800" smtClean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en-US" sz="2800" smtClean="0">
                <a:solidFill>
                  <a:srgbClr val="0000CC"/>
                </a:solidFill>
              </a:rPr>
              <a:t>parameter</a:t>
            </a:r>
            <a:r>
              <a:rPr lang="en-US" sz="2800" smtClean="0"/>
              <a:t>   , often denoted                              , and the p.f. is</a:t>
            </a: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See [</a:t>
            </a:r>
            <a:r>
              <a:rPr lang="en-US" sz="2800" b="1" smtClean="0">
                <a:solidFill>
                  <a:srgbClr val="0000CC"/>
                </a:solidFill>
              </a:rPr>
              <a:t>1</a:t>
            </a:r>
            <a:r>
              <a:rPr lang="en-US" sz="2800" smtClean="0"/>
              <a:t>, </a:t>
            </a:r>
            <a:r>
              <a:rPr lang="en-US" sz="2800" smtClean="0">
                <a:solidFill>
                  <a:srgbClr val="0000CC"/>
                </a:solidFill>
              </a:rPr>
              <a:t>Example 3.1.6, Chapter 3</a:t>
            </a:r>
            <a:r>
              <a:rPr lang="en-US" sz="2800" smtClean="0"/>
              <a:t>]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16" name="Picture 1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47401" y="2161676"/>
            <a:ext cx="2713525" cy="369901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86000" y="3124200"/>
            <a:ext cx="4540945" cy="1322257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68150" y="1676400"/>
            <a:ext cx="303650" cy="251201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91000" y="1252368"/>
            <a:ext cx="985482" cy="259483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762536" y="1252368"/>
            <a:ext cx="968919" cy="253962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47640" y="903642"/>
            <a:ext cx="195992" cy="234638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948032" y="2264484"/>
            <a:ext cx="195992" cy="234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Uniform Distributions on Integers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00CC"/>
                </a:solidFill>
              </a:rPr>
              <a:t>Uniform Distribution on Integers</a:t>
            </a:r>
            <a:r>
              <a:rPr lang="en-US" dirty="0" smtClean="0"/>
              <a:t>. </a:t>
            </a:r>
            <a:r>
              <a:rPr lang="en-US" smtClean="0"/>
              <a:t>Let         </a:t>
            </a:r>
            <a:r>
              <a:rPr lang="en-US" smtClean="0">
                <a:solidFill>
                  <a:srgbClr val="0000CC"/>
                </a:solidFill>
              </a:rPr>
              <a:t> </a:t>
            </a:r>
            <a:r>
              <a:rPr lang="en-US" dirty="0" smtClean="0"/>
              <a:t>be integers. Suppose that the value of a random </a:t>
            </a:r>
            <a:r>
              <a:rPr lang="en-US" smtClean="0"/>
              <a:t>variable </a:t>
            </a:r>
            <a:r>
              <a:rPr lang="en-US" smtClean="0">
                <a:solidFill>
                  <a:srgbClr val="0000CC"/>
                </a:solidFill>
              </a:rPr>
              <a:t>   </a:t>
            </a:r>
            <a:r>
              <a:rPr lang="en-US" smtClean="0"/>
              <a:t> </a:t>
            </a:r>
            <a:r>
              <a:rPr lang="en-US" dirty="0" smtClean="0"/>
              <a:t>is equally likely to be each of </a:t>
            </a:r>
            <a:r>
              <a:rPr lang="en-US" smtClean="0"/>
              <a:t>the integers             . </a:t>
            </a:r>
            <a:r>
              <a:rPr lang="en-US" dirty="0" smtClean="0"/>
              <a:t>Then we say </a:t>
            </a:r>
            <a:r>
              <a:rPr lang="en-US" smtClean="0"/>
              <a:t>that     </a:t>
            </a:r>
            <a:r>
              <a:rPr lang="en-US" dirty="0" smtClean="0"/>
              <a:t>has the uniform distribution on </a:t>
            </a:r>
            <a:r>
              <a:rPr lang="en-US" smtClean="0"/>
              <a:t>the integers             .</a:t>
            </a: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5" name="Picture 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28800" y="1839558"/>
            <a:ext cx="303650" cy="251201"/>
          </a:xfrm>
          <a:prstGeom prst="rect">
            <a:avLst/>
          </a:prstGeom>
        </p:spPr>
      </p:pic>
      <p:pic>
        <p:nvPicPr>
          <p:cNvPr id="7" name="Picture 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391400" y="838200"/>
            <a:ext cx="822615" cy="309171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630550" y="2329926"/>
            <a:ext cx="303650" cy="251201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905000" y="2307516"/>
            <a:ext cx="1148348" cy="328494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29400" y="2795706"/>
            <a:ext cx="1148348" cy="3284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Uniform Distributions on Integers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smtClean="0">
                <a:solidFill>
                  <a:srgbClr val="0000CC"/>
                </a:solidFill>
              </a:rPr>
              <a:t>Example 5: </a:t>
            </a:r>
            <a:r>
              <a:rPr lang="en-US" sz="2800" b="1" smtClean="0"/>
              <a:t>Daily Numbers</a:t>
            </a:r>
            <a:r>
              <a:rPr lang="en-US" sz="2800" smtClean="0"/>
              <a:t>. A popular state lottery game requires participants to select a </a:t>
            </a:r>
            <a:r>
              <a:rPr lang="en-US" sz="2800" smtClean="0">
                <a:solidFill>
                  <a:srgbClr val="0000CC"/>
                </a:solidFill>
              </a:rPr>
              <a:t>three digit number </a:t>
            </a:r>
            <a:r>
              <a:rPr lang="en-US" sz="2800" smtClean="0"/>
              <a:t>(leading 0s allowed). Then </a:t>
            </a:r>
            <a:r>
              <a:rPr lang="en-US" sz="2800" smtClean="0">
                <a:solidFill>
                  <a:srgbClr val="0000CC"/>
                </a:solidFill>
              </a:rPr>
              <a:t>three balls</a:t>
            </a:r>
            <a:r>
              <a:rPr lang="en-US" sz="2800" smtClean="0"/>
              <a:t>, each with one digit, are chosen at random from well-mixed bowls. </a:t>
            </a:r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The sample space here consists of all triples </a:t>
            </a:r>
            <a:endParaRPr lang="en-US" sz="2800" smtClean="0"/>
          </a:p>
          <a:p>
            <a:pPr marL="0" indent="0">
              <a:buNone/>
            </a:pPr>
            <a:r>
              <a:rPr lang="vi-VN" sz="2800" smtClean="0"/>
              <a:t>where                              </a:t>
            </a:r>
            <a:r>
              <a:rPr lang="nn-NO" sz="2800" smtClean="0"/>
              <a:t>for</a:t>
            </a:r>
            <a:r>
              <a:rPr lang="vi-VN" sz="2800" smtClean="0"/>
              <a:t>                 </a:t>
            </a:r>
            <a:r>
              <a:rPr lang="nn-NO" sz="2800" i="1" smtClean="0"/>
              <a:t>. </a:t>
            </a:r>
            <a:r>
              <a:rPr lang="nn-NO" sz="2800" smtClean="0"/>
              <a:t>If</a:t>
            </a:r>
            <a:r>
              <a:rPr lang="vi-VN" sz="2800" smtClean="0"/>
              <a:t>   </a:t>
            </a:r>
            <a:r>
              <a:rPr lang="nn-NO" sz="2800" smtClean="0"/>
              <a:t>                    define</a:t>
            </a:r>
            <a:r>
              <a:rPr lang="vi-VN" sz="2800" i="1" smtClean="0"/>
              <a:t> </a:t>
            </a:r>
            <a:endParaRPr lang="nn-NO" sz="2800" i="1" smtClean="0"/>
          </a:p>
          <a:p>
            <a:pPr marL="0" indent="0">
              <a:buNone/>
            </a:pPr>
            <a:r>
              <a:rPr lang="en-US" sz="2800" smtClean="0"/>
              <a:t>For example,                         </a:t>
            </a:r>
            <a:r>
              <a:rPr lang="en-US" sz="2800" i="1" smtClean="0"/>
              <a:t>. </a:t>
            </a:r>
            <a:r>
              <a:rPr lang="en-US" sz="2800" smtClean="0"/>
              <a:t>It is easy to check that </a:t>
            </a:r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                               for each </a:t>
            </a:r>
            <a:r>
              <a:rPr lang="sv-SE" sz="2800" smtClean="0"/>
              <a:t>integer  </a:t>
            </a:r>
            <a:r>
              <a:rPr lang="sv-SE" sz="2800" i="1" smtClean="0">
                <a:solidFill>
                  <a:srgbClr val="0000CC"/>
                </a:solidFill>
              </a:rPr>
              <a:t>                            </a:t>
            </a:r>
            <a:r>
              <a:rPr lang="sv-SE" sz="2800" i="1" smtClean="0"/>
              <a:t> </a:t>
            </a:r>
            <a:endParaRPr lang="sv-SE" sz="2800" i="1" smtClean="0"/>
          </a:p>
          <a:p>
            <a:pPr marL="0" indent="0">
              <a:buNone/>
            </a:pPr>
            <a:r>
              <a:rPr lang="en-US" sz="2800" smtClean="0"/>
              <a:t>The    </a:t>
            </a:r>
            <a:r>
              <a:rPr lang="en-US" sz="2800" i="1" smtClean="0"/>
              <a:t> </a:t>
            </a:r>
            <a:r>
              <a:rPr lang="en-US" sz="2800" smtClean="0"/>
              <a:t>in</a:t>
            </a:r>
            <a:r>
              <a:rPr lang="en-US" sz="2800" i="1" smtClean="0"/>
              <a:t> </a:t>
            </a:r>
            <a:r>
              <a:rPr lang="en-US" sz="2800" smtClean="0"/>
              <a:t>this example</a:t>
            </a:r>
            <a:r>
              <a:rPr lang="en-US" sz="2800" i="1" smtClean="0"/>
              <a:t> </a:t>
            </a:r>
            <a:r>
              <a:rPr lang="en-US" sz="2800" smtClean="0"/>
              <a:t>has the uniform distribution on the integers</a:t>
            </a:r>
            <a:endParaRPr lang="en-US" sz="2800" i="1" smtClean="0"/>
          </a:p>
          <a:p>
            <a:pPr marL="0" indent="0">
              <a:buNone/>
            </a:pPr>
            <a:endParaRPr lang="sv-SE" sz="2800" i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6" name="Picture 5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9358" y="4974857"/>
            <a:ext cx="2881913" cy="369901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26403" y="4964652"/>
            <a:ext cx="2881913" cy="367140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9800" y="5922084"/>
            <a:ext cx="2208362" cy="367140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371600" y="3505200"/>
            <a:ext cx="2586544" cy="383703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48200" y="3537474"/>
            <a:ext cx="1526531" cy="322973"/>
          </a:xfrm>
          <a:prstGeom prst="rect">
            <a:avLst/>
          </a:prstGeom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781800" y="3505200"/>
            <a:ext cx="2095184" cy="369901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391400" y="2971800"/>
            <a:ext cx="1413352" cy="369901"/>
          </a:xfrm>
          <a:prstGeom prst="rect">
            <a:avLst/>
          </a:prstGeom>
        </p:spPr>
      </p:pic>
      <p:pic>
        <p:nvPicPr>
          <p:cNvPr id="20" name="Picture 19" descr="addin_t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350084" y="3962400"/>
            <a:ext cx="3925364" cy="369901"/>
          </a:xfrm>
          <a:prstGeom prst="rect">
            <a:avLst/>
          </a:prstGeom>
        </p:spPr>
      </p:pic>
      <p:pic>
        <p:nvPicPr>
          <p:cNvPr id="22" name="Picture 21" descr="addin_tmp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395368" y="4452768"/>
            <a:ext cx="2324301" cy="369901"/>
          </a:xfrm>
          <a:prstGeom prst="rect">
            <a:avLst/>
          </a:prstGeom>
        </p:spPr>
      </p:pic>
      <p:pic>
        <p:nvPicPr>
          <p:cNvPr id="24" name="Picture 23" descr="addin_tmp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958326" y="5507916"/>
            <a:ext cx="303650" cy="2512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Binomial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2800" i="1" smtClean="0">
                <a:solidFill>
                  <a:srgbClr val="0000CC"/>
                </a:solidFill>
              </a:rPr>
              <a:t>    </a:t>
            </a:r>
            <a:r>
              <a:rPr lang="en-US" sz="2800" smtClean="0"/>
              <a:t> = the number of “</a:t>
            </a:r>
            <a:r>
              <a:rPr lang="en-US" sz="2800" smtClean="0">
                <a:solidFill>
                  <a:srgbClr val="0000CC"/>
                </a:solidFill>
              </a:rPr>
              <a:t>successes</a:t>
            </a:r>
            <a:r>
              <a:rPr lang="en-US" sz="2800" smtClean="0"/>
              <a:t>” in </a:t>
            </a:r>
            <a:r>
              <a:rPr lang="en-US" sz="2800" i="1" smtClean="0">
                <a:solidFill>
                  <a:srgbClr val="0000CC"/>
                </a:solidFill>
              </a:rPr>
              <a:t>  </a:t>
            </a:r>
            <a:r>
              <a:rPr lang="en-US" sz="2800" smtClean="0"/>
              <a:t>  independent trials, where the probability of success is  </a:t>
            </a:r>
            <a:r>
              <a:rPr lang="en-US" sz="2800" i="1" smtClean="0">
                <a:solidFill>
                  <a:srgbClr val="0000CC"/>
                </a:solidFill>
              </a:rPr>
              <a:t>  </a:t>
            </a:r>
            <a:r>
              <a:rPr lang="en-US" sz="2800" smtClean="0"/>
              <a:t>. Then</a:t>
            </a:r>
            <a:endParaRPr lang="en-US" sz="2800" smtClean="0"/>
          </a:p>
          <a:p>
            <a:pPr marL="0" indent="0">
              <a:buNone/>
            </a:pPr>
            <a:endParaRPr lang="en-US" sz="2800" i="1" smtClean="0"/>
          </a:p>
          <a:p>
            <a:pPr marL="0" indent="0">
              <a:buNone/>
            </a:pPr>
            <a:endParaRPr lang="en-US" sz="2800" i="1" smtClean="0"/>
          </a:p>
          <a:p>
            <a:pPr marL="0" indent="0">
              <a:buNone/>
            </a:pPr>
            <a:r>
              <a:rPr lang="en-US" sz="2800" smtClean="0"/>
              <a:t>so the pf is </a:t>
            </a: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r>
              <a:rPr lang="en-US" sz="2800" smtClean="0"/>
              <a:t>is said to have the </a:t>
            </a:r>
            <a:r>
              <a:rPr lang="en-US" sz="2800" smtClean="0">
                <a:solidFill>
                  <a:srgbClr val="0000CC"/>
                </a:solidFill>
              </a:rPr>
              <a:t>Binomial distribution</a:t>
            </a:r>
            <a:r>
              <a:rPr lang="en-US" sz="2800" smtClean="0"/>
              <a:t> with parameters </a:t>
            </a:r>
            <a:r>
              <a:rPr lang="en-US" sz="2800" smtClean="0">
                <a:solidFill>
                  <a:srgbClr val="0000CC"/>
                </a:solidFill>
              </a:rPr>
              <a:t> </a:t>
            </a:r>
            <a:r>
              <a:rPr lang="en-US" sz="2800" smtClean="0"/>
              <a:t>  and </a:t>
            </a:r>
            <a:r>
              <a:rPr lang="en-US" sz="2800" smtClean="0">
                <a:solidFill>
                  <a:srgbClr val="0000CC"/>
                </a:solidFill>
              </a:rPr>
              <a:t>  </a:t>
            </a:r>
            <a:r>
              <a:rPr lang="en-US" sz="2800" smtClean="0"/>
              <a:t>, often denoted</a:t>
            </a:r>
            <a:endParaRPr lang="en-US" sz="2800" smtClean="0"/>
          </a:p>
          <a:p>
            <a:pPr marL="0" indent="0">
              <a:buNone/>
            </a:pPr>
            <a:r>
              <a:rPr lang="vi-VN" sz="2800" smtClean="0"/>
              <a:t>A                          random variable is a sequence of  independent                      trials.</a:t>
            </a:r>
            <a:endParaRPr lang="en-US" sz="2800" i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7" name="Picture 6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0859" y="1752600"/>
            <a:ext cx="7444941" cy="883345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57200" y="3325943"/>
            <a:ext cx="7803800" cy="1322257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91200" y="5257800"/>
            <a:ext cx="3072384" cy="369901"/>
          </a:xfrm>
          <a:prstGeom prst="rect">
            <a:avLst/>
          </a:prstGeom>
        </p:spPr>
      </p:pic>
      <p:pic>
        <p:nvPicPr>
          <p:cNvPr id="9" name="Picture 8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4800" y="815599"/>
            <a:ext cx="303650" cy="251201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128413" y="5334000"/>
            <a:ext cx="201513" cy="165627"/>
          </a:xfrm>
          <a:prstGeom prst="rect">
            <a:avLst/>
          </a:prstGeom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124200" y="5334000"/>
            <a:ext cx="195992" cy="234638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31116" y="5725758"/>
            <a:ext cx="2249769" cy="369901"/>
          </a:xfrm>
          <a:prstGeom prst="rect">
            <a:avLst/>
          </a:prstGeom>
        </p:spPr>
      </p:pic>
      <p:pic>
        <p:nvPicPr>
          <p:cNvPr id="19" name="Picture 18" descr="addin_t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403516" y="5856642"/>
            <a:ext cx="201513" cy="165627"/>
          </a:xfrm>
          <a:prstGeom prst="rect">
            <a:avLst/>
          </a:prstGeom>
        </p:spPr>
      </p:pic>
      <p:pic>
        <p:nvPicPr>
          <p:cNvPr id="21" name="Picture 20" descr="addin_tmp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297652" y="6172200"/>
            <a:ext cx="1888150" cy="369901"/>
          </a:xfrm>
          <a:prstGeom prst="rect">
            <a:avLst/>
          </a:prstGeom>
        </p:spPr>
      </p:pic>
      <p:pic>
        <p:nvPicPr>
          <p:cNvPr id="22" name="Picture 21" descr="addin_tmp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736516" y="903642"/>
            <a:ext cx="201513" cy="165627"/>
          </a:xfrm>
          <a:prstGeom prst="rect">
            <a:avLst/>
          </a:prstGeom>
        </p:spPr>
      </p:pic>
      <p:pic>
        <p:nvPicPr>
          <p:cNvPr id="23" name="Picture 22" descr="addin_tmp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759390" y="1327674"/>
            <a:ext cx="195992" cy="2346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Cumulative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2800" smtClean="0"/>
              <a:t>The </a:t>
            </a:r>
            <a:r>
              <a:rPr lang="en-US" sz="2800" b="1" smtClean="0">
                <a:solidFill>
                  <a:srgbClr val="0000CC"/>
                </a:solidFill>
              </a:rPr>
              <a:t>cumulative distribution function (c.d.f.) </a:t>
            </a:r>
            <a:r>
              <a:rPr lang="en-US" sz="2800" smtClean="0"/>
              <a:t>of a random variable  </a:t>
            </a:r>
            <a:r>
              <a:rPr lang="en-US" sz="2800" i="1" smtClean="0"/>
              <a:t>   is the function</a:t>
            </a:r>
            <a:endParaRPr lang="en-US" sz="2800" i="1" smtClean="0"/>
          </a:p>
          <a:p>
            <a:pPr marL="0" indent="0">
              <a:buNone/>
            </a:pPr>
            <a:endParaRPr lang="en-US" sz="2800" i="1" smtClean="0"/>
          </a:p>
          <a:p>
            <a:pPr marL="0" indent="0">
              <a:buNone/>
            </a:pPr>
            <a:r>
              <a:rPr lang="en-US" sz="2800" smtClean="0"/>
              <a:t>this function it can be used for both discrete and continuous </a:t>
            </a:r>
            <a:r>
              <a:rPr lang="vi-VN" sz="2800" smtClean="0"/>
              <a:t>random variables.</a:t>
            </a:r>
            <a:endParaRPr lang="en-US" sz="2800" smtClean="0"/>
          </a:p>
          <a:p>
            <a:pPr marL="0" indent="0">
              <a:buNone/>
            </a:pPr>
            <a:endParaRPr lang="en-US" sz="2800" smtClean="0"/>
          </a:p>
          <a:p>
            <a:pPr marL="0" indent="0">
              <a:buNone/>
            </a:pPr>
            <a:endParaRPr lang="en-US" sz="2800" i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pic>
        <p:nvPicPr>
          <p:cNvPr id="20" name="Picture 19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7919" y="1752600"/>
            <a:ext cx="2948163" cy="369901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884842" y="1251474"/>
            <a:ext cx="303650" cy="251201"/>
          </a:xfrm>
          <a:prstGeom prst="rect">
            <a:avLst/>
          </a:prstGeom>
        </p:spPr>
      </p:pic>
      <p:pic>
        <p:nvPicPr>
          <p:cNvPr id="24" name="Picture 1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211606"/>
            <a:ext cx="4572000" cy="3112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Box 24"/>
          <p:cNvSpPr txBox="1"/>
          <p:nvPr/>
        </p:nvSpPr>
        <p:spPr>
          <a:xfrm>
            <a:off x="4572000" y="3124200"/>
            <a:ext cx="4413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The probability mass function can be used to construct the cumulative distribution function as follows:</a:t>
            </a:r>
            <a:endParaRPr lang="vi-VN"/>
          </a:p>
        </p:txBody>
      </p:sp>
      <p:pic>
        <p:nvPicPr>
          <p:cNvPr id="29" name="Picture 28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72000" y="4267200"/>
            <a:ext cx="4190712" cy="231188"/>
          </a:xfrm>
          <a:prstGeom prst="rect">
            <a:avLst/>
          </a:prstGeom>
        </p:spPr>
      </p:pic>
      <p:pic>
        <p:nvPicPr>
          <p:cNvPr id="32" name="Picture 31" descr="addin_tmp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572000" y="4645612"/>
            <a:ext cx="4311482" cy="231188"/>
          </a:xfrm>
          <a:prstGeom prst="rect">
            <a:avLst/>
          </a:prstGeom>
        </p:spPr>
      </p:pic>
      <p:pic>
        <p:nvPicPr>
          <p:cNvPr id="36" name="Picture 35" descr="addin_tmp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572001" y="5026612"/>
            <a:ext cx="4425351" cy="231188"/>
          </a:xfrm>
          <a:prstGeom prst="rect">
            <a:avLst/>
          </a:prstGeom>
        </p:spPr>
      </p:pic>
      <p:pic>
        <p:nvPicPr>
          <p:cNvPr id="37" name="Picture 36" descr="addin_tmp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4572001" y="5407612"/>
            <a:ext cx="4126877" cy="231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1981200"/>
            <a:ext cx="9144000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3399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continuous distributions</a:t>
            </a:r>
            <a:endParaRPr lang="vi-VN" sz="5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003399"/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idx="1"/>
          </p:nvPr>
        </p:nvSpPr>
        <p:spPr>
          <a:xfrm>
            <a:off x="0" y="4191000"/>
            <a:ext cx="9144000" cy="1905000"/>
          </a:xfrm>
        </p:spPr>
        <p:txBody>
          <a:bodyPr anchor="t"/>
          <a:lstStyle/>
          <a:p>
            <a:pPr marL="2054225" indent="-450850">
              <a:buFont typeface="+mj-lt"/>
              <a:buAutoNum type="arabicPeriod"/>
            </a:pPr>
            <a:r>
              <a:rPr lang="en-US" sz="2400" smtClean="0">
                <a:solidFill>
                  <a:srgbClr val="003399"/>
                </a:solidFill>
              </a:rPr>
              <a:t>The Probability Density Function (p.d.f.)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054225" indent="-450850">
              <a:buFont typeface="+mj-lt"/>
              <a:buAutoNum type="arabicPeriod"/>
            </a:pPr>
            <a:r>
              <a:rPr lang="en-US" sz="2400" smtClean="0">
                <a:solidFill>
                  <a:srgbClr val="003399"/>
                </a:solidFill>
              </a:rPr>
              <a:t>Nonuniqueness of the p.d.f.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054225" indent="-450850">
              <a:buFont typeface="+mj-lt"/>
              <a:buAutoNum type="arabicPeriod"/>
            </a:pPr>
            <a:r>
              <a:rPr lang="en-US" sz="2400" smtClean="0">
                <a:solidFill>
                  <a:srgbClr val="003399"/>
                </a:solidFill>
              </a:rPr>
              <a:t>Uniform Distributions on Intervals</a:t>
            </a:r>
            <a:endParaRPr lang="en-US" sz="2400" dirty="0" smtClean="0">
              <a:solidFill>
                <a:srgbClr val="003399"/>
              </a:solidFill>
            </a:endParaRPr>
          </a:p>
          <a:p>
            <a:pPr marL="2054225" indent="-450850">
              <a:buFont typeface="+mj-lt"/>
              <a:buAutoNum type="arabicPeriod"/>
            </a:pPr>
            <a:r>
              <a:rPr lang="en-US" sz="2400" smtClean="0">
                <a:solidFill>
                  <a:srgbClr val="003399"/>
                </a:solidFill>
              </a:rPr>
              <a:t>Other Continuous Distributions</a:t>
            </a:r>
            <a:endParaRPr lang="en-US" sz="2400" dirty="0" smtClean="0">
              <a:solidFill>
                <a:srgbClr val="00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9525"/>
            <a:r>
              <a:rPr lang="en-US" smtClean="0"/>
              <a:t>The Probability Density Function (p.d.f.)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6" name="Content Placeholder 5"/>
          <p:cNvSpPr txBox="1"/>
          <p:nvPr/>
        </p:nvSpPr>
        <p:spPr bwMode="auto">
          <a:xfrm>
            <a:off x="152400" y="685800"/>
            <a:ext cx="8839200" cy="5715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800" b="1" smtClean="0">
                <a:solidFill>
                  <a:srgbClr val="0000CC"/>
                </a:solidFill>
              </a:rPr>
              <a:t>Definition: </a:t>
            </a:r>
            <a:r>
              <a:rPr lang="en-US" sz="2800" smtClean="0"/>
              <a:t>A random variable </a:t>
            </a:r>
            <a:r>
              <a:rPr lang="en-US" sz="2800" i="1" smtClean="0">
                <a:solidFill>
                  <a:srgbClr val="0000CC"/>
                </a:solidFill>
              </a:rPr>
              <a:t>    </a:t>
            </a:r>
            <a:r>
              <a:rPr lang="en-US" sz="2800" smtClean="0"/>
              <a:t>is said to have a </a:t>
            </a:r>
            <a:r>
              <a:rPr lang="en-US" sz="2800" smtClean="0">
                <a:solidFill>
                  <a:srgbClr val="0000CC"/>
                </a:solidFill>
              </a:rPr>
              <a:t>continuous distribution </a:t>
            </a:r>
            <a:r>
              <a:rPr lang="en-US" sz="2800" smtClean="0"/>
              <a:t>if there exists a non-negative function </a:t>
            </a:r>
            <a:r>
              <a:rPr lang="en-US" sz="2800" smtClean="0">
                <a:solidFill>
                  <a:srgbClr val="0000CC"/>
                </a:solidFill>
              </a:rPr>
              <a:t>      </a:t>
            </a:r>
            <a:r>
              <a:rPr lang="en-US" sz="2800" smtClean="0"/>
              <a:t>  defined on the real line such that</a:t>
            </a:r>
            <a:endParaRPr lang="en-US" sz="2800" smtClean="0"/>
          </a:p>
          <a:p>
            <a:endParaRPr kumimoji="0" lang="en-US" sz="2800" b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sz="2800" kern="0" smtClean="0">
              <a:latin typeface="+mn-lt"/>
            </a:endParaRPr>
          </a:p>
          <a:p>
            <a:endParaRPr kumimoji="0" lang="en-US" sz="2800" b="0" u="none" strike="noStrike" kern="0" cap="none" spc="0" normalizeH="0" baseline="0" noProof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endParaRPr lang="en-US" sz="2800" kern="0" smtClean="0">
              <a:latin typeface="+mn-lt"/>
            </a:endParaRPr>
          </a:p>
          <a:p>
            <a:r>
              <a:rPr lang="en-US" sz="2800" smtClean="0"/>
              <a:t>The function </a:t>
            </a:r>
            <a:r>
              <a:rPr lang="en-US" sz="2800" smtClean="0">
                <a:solidFill>
                  <a:srgbClr val="0000CC"/>
                </a:solidFill>
              </a:rPr>
              <a:t>  </a:t>
            </a:r>
            <a:r>
              <a:rPr lang="en-US" sz="2800" smtClean="0"/>
              <a:t>      is called the </a:t>
            </a:r>
            <a:r>
              <a:rPr lang="en-US" sz="2800" smtClean="0">
                <a:solidFill>
                  <a:srgbClr val="0000CC"/>
                </a:solidFill>
              </a:rPr>
              <a:t>probability density function </a:t>
            </a:r>
            <a:r>
              <a:rPr lang="en-US" sz="2800" smtClean="0"/>
              <a:t>(pdf). The closure of the set                          is called the </a:t>
            </a:r>
            <a:r>
              <a:rPr lang="en-US" sz="2800" smtClean="0">
                <a:solidFill>
                  <a:srgbClr val="0000CC"/>
                </a:solidFill>
              </a:rPr>
              <a:t>support</a:t>
            </a:r>
            <a:r>
              <a:rPr lang="en-US" sz="2800" smtClean="0"/>
              <a:t> of </a:t>
            </a:r>
            <a:r>
              <a:rPr lang="en-US" sz="2800" i="1" smtClean="0">
                <a:solidFill>
                  <a:srgbClr val="0000CC"/>
                </a:solidFill>
              </a:rPr>
              <a:t>   </a:t>
            </a:r>
            <a:r>
              <a:rPr lang="en-US" sz="2800" smtClean="0"/>
              <a:t>.</a:t>
            </a:r>
            <a:endParaRPr kumimoji="0" lang="vi-VN" sz="2800" b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" name="Picture 12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33600" y="2379453"/>
            <a:ext cx="4963294" cy="897147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76525" y="809325"/>
            <a:ext cx="303650" cy="251201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089157" y="4191000"/>
            <a:ext cx="2216643" cy="369901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05200" y="4659852"/>
            <a:ext cx="303650" cy="251201"/>
          </a:xfrm>
          <a:prstGeom prst="rect">
            <a:avLst/>
          </a:prstGeom>
        </p:spPr>
      </p:pic>
      <p:pic>
        <p:nvPicPr>
          <p:cNvPr id="10" name="Picture 9" descr="addin_tmp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289642" y="3733800"/>
            <a:ext cx="659748" cy="369901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00200" y="1621716"/>
            <a:ext cx="659748" cy="369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9525"/>
            <a:r>
              <a:rPr lang="en-US" smtClean="0"/>
              <a:t>The Probability Density Function (p.d.f)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6" name="Content Placeholder 5"/>
          <p:cNvSpPr txBox="1"/>
          <p:nvPr/>
        </p:nvSpPr>
        <p:spPr bwMode="auto">
          <a:xfrm>
            <a:off x="152400" y="685800"/>
            <a:ext cx="8839200" cy="5715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800" b="1" smtClean="0">
                <a:solidFill>
                  <a:srgbClr val="0000CC"/>
                </a:solidFill>
              </a:rPr>
              <a:t>Example 6: </a:t>
            </a:r>
            <a:r>
              <a:rPr lang="en-US" sz="2800" smtClean="0"/>
              <a:t>If     is </a:t>
            </a:r>
            <a:r>
              <a:rPr lang="en-US" sz="2800" smtClean="0">
                <a:solidFill>
                  <a:srgbClr val="0000CC"/>
                </a:solidFill>
              </a:rPr>
              <a:t>Uniformly distributed </a:t>
            </a:r>
            <a:r>
              <a:rPr lang="en-US" sz="2800" smtClean="0"/>
              <a:t>in          or</a:t>
            </a:r>
            <a:endParaRPr lang="en-US" sz="2800" smtClean="0"/>
          </a:p>
          <a:p>
            <a:endParaRPr lang="en-US" sz="2800" smtClean="0"/>
          </a:p>
          <a:p>
            <a:r>
              <a:rPr lang="en-US" sz="2800" smtClean="0"/>
              <a:t>every interval in         has probability proportional to it’s length. The p.d.f </a:t>
            </a:r>
            <a:r>
              <a:rPr lang="vi-VN" sz="2800" smtClean="0"/>
              <a:t>is</a:t>
            </a:r>
            <a:endParaRPr lang="en-US" sz="2800" kern="0" smtClean="0">
              <a:latin typeface="+mn-lt"/>
            </a:endParaRPr>
          </a:p>
        </p:txBody>
      </p:sp>
      <p:pic>
        <p:nvPicPr>
          <p:cNvPr id="15" name="Picture 1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4975" y="809325"/>
            <a:ext cx="303650" cy="251201"/>
          </a:xfrm>
          <a:prstGeom prst="rect">
            <a:avLst/>
          </a:prstGeom>
        </p:spPr>
      </p:pic>
      <p:pic>
        <p:nvPicPr>
          <p:cNvPr id="8" name="Picture 7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90800" y="1219201"/>
            <a:ext cx="2903996" cy="369901"/>
          </a:xfrm>
          <a:prstGeom prst="rect">
            <a:avLst/>
          </a:prstGeom>
        </p:spPr>
      </p:pic>
      <p:pic>
        <p:nvPicPr>
          <p:cNvPr id="12" name="Picture 11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28800" y="2667000"/>
            <a:ext cx="4913606" cy="1162151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086600" y="762000"/>
            <a:ext cx="634904" cy="369901"/>
          </a:xfrm>
          <a:prstGeom prst="rect">
            <a:avLst/>
          </a:prstGeom>
        </p:spPr>
      </p:pic>
      <p:pic>
        <p:nvPicPr>
          <p:cNvPr id="13" name="Picture 12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895600" y="1633368"/>
            <a:ext cx="634904" cy="369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9525"/>
            <a:r>
              <a:rPr lang="en-US" smtClean="0"/>
              <a:t>The Probability Density Function (p.d.f.)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6" name="Content Placeholder 5"/>
          <p:cNvSpPr txBox="1"/>
          <p:nvPr/>
        </p:nvSpPr>
        <p:spPr bwMode="auto">
          <a:xfrm>
            <a:off x="152400" y="685800"/>
            <a:ext cx="8839200" cy="2209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800" b="1" smtClean="0">
                <a:solidFill>
                  <a:srgbClr val="0000CC"/>
                </a:solidFill>
              </a:rPr>
              <a:t>Example 7: </a:t>
            </a:r>
            <a:r>
              <a:rPr lang="en-US" sz="2800" smtClean="0"/>
              <a:t>Suppose that the diameter of a metal cylinder has a probability density function</a:t>
            </a:r>
            <a:endParaRPr lang="en-US" sz="2800" smtClean="0"/>
          </a:p>
          <a:p>
            <a:endParaRPr lang="en-US" sz="2800" smtClean="0"/>
          </a:p>
          <a:p>
            <a:endParaRPr lang="en-US" sz="2800" smtClean="0"/>
          </a:p>
          <a:p>
            <a:r>
              <a:rPr lang="en-US" sz="2800" smtClean="0"/>
              <a:t>for                          , and  </a:t>
            </a:r>
            <a:endParaRPr lang="en-US" sz="2800" smtClean="0"/>
          </a:p>
          <a:p>
            <a:r>
              <a:rPr lang="en-US" sz="2800" smtClean="0"/>
              <a:t> </a:t>
            </a:r>
            <a:endParaRPr lang="en-US" sz="2800" smtClean="0"/>
          </a:p>
          <a:p>
            <a:endParaRPr lang="vi-VN" sz="2800" i="1" smtClean="0"/>
          </a:p>
          <a:p>
            <a:endParaRPr lang="vi-VN" sz="2800" i="1" smtClean="0"/>
          </a:p>
        </p:txBody>
      </p:sp>
      <p:pic>
        <p:nvPicPr>
          <p:cNvPr id="11" name="Picture 10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38400" y="1828800"/>
            <a:ext cx="4008178" cy="416828"/>
          </a:xfrm>
          <a:prstGeom prst="rect">
            <a:avLst/>
          </a:prstGeom>
        </p:spPr>
      </p:pic>
      <p:pic>
        <p:nvPicPr>
          <p:cNvPr id="13" name="Picture 1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939698"/>
            <a:ext cx="4267200" cy="3474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addin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38200" y="2449499"/>
            <a:ext cx="2277373" cy="369901"/>
          </a:xfrm>
          <a:prstGeom prst="rect">
            <a:avLst/>
          </a:prstGeom>
        </p:spPr>
      </p:pic>
      <p:pic>
        <p:nvPicPr>
          <p:cNvPr id="18" name="Picture 17" descr="addin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191001" y="2438400"/>
            <a:ext cx="2992331" cy="369901"/>
          </a:xfrm>
          <a:prstGeom prst="rect">
            <a:avLst/>
          </a:prstGeom>
        </p:spPr>
      </p:pic>
      <p:sp>
        <p:nvSpPr>
          <p:cNvPr id="19" name="Content Placeholder 5"/>
          <p:cNvSpPr txBox="1"/>
          <p:nvPr/>
        </p:nvSpPr>
        <p:spPr bwMode="auto">
          <a:xfrm>
            <a:off x="4343400" y="2971800"/>
            <a:ext cx="4648200" cy="3429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vi-VN" sz="2800" smtClean="0"/>
              <a:t>This is a valid </a:t>
            </a:r>
            <a:r>
              <a:rPr lang="en-US" sz="2800" smtClean="0">
                <a:solidFill>
                  <a:srgbClr val="0000CC"/>
                </a:solidFill>
              </a:rPr>
              <a:t>probability density function</a:t>
            </a:r>
            <a:r>
              <a:rPr lang="en-US" sz="2800" smtClean="0"/>
              <a:t> because it is positive within the state space                   and</a:t>
            </a:r>
            <a:endParaRPr lang="en-US" sz="2800" smtClean="0"/>
          </a:p>
          <a:p>
            <a:r>
              <a:rPr lang="vi-VN" sz="2800" smtClean="0"/>
              <a:t>because</a:t>
            </a:r>
            <a:endParaRPr lang="vi-VN" sz="2800" i="1" smtClean="0"/>
          </a:p>
        </p:txBody>
      </p:sp>
      <p:pic>
        <p:nvPicPr>
          <p:cNvPr id="17" name="Picture 16" descr="addin_tmp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366435" y="5334000"/>
            <a:ext cx="2710765" cy="921991"/>
          </a:xfrm>
          <a:prstGeom prst="rect">
            <a:avLst/>
          </a:prstGeom>
        </p:spPr>
      </p:pic>
      <p:pic>
        <p:nvPicPr>
          <p:cNvPr id="15" name="Picture 14" descr="addin_tmp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499340" y="4343400"/>
            <a:ext cx="1587260" cy="369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9525"/>
            <a:r>
              <a:rPr lang="en-US" smtClean="0"/>
              <a:t>The Probability Density Function (PDF)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sp>
        <p:nvSpPr>
          <p:cNvPr id="6" name="Content Placeholder 5"/>
          <p:cNvSpPr txBox="1"/>
          <p:nvPr/>
        </p:nvSpPr>
        <p:spPr bwMode="auto">
          <a:xfrm>
            <a:off x="152400" y="685800"/>
            <a:ext cx="8839200" cy="5715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800" b="1" smtClean="0">
                <a:solidFill>
                  <a:srgbClr val="0000CC"/>
                </a:solidFill>
              </a:rPr>
              <a:t>Properties of p.d.f. and p.f.: </a:t>
            </a:r>
            <a:r>
              <a:rPr lang="en-US" sz="2800" smtClean="0"/>
              <a:t>A function </a:t>
            </a:r>
            <a:r>
              <a:rPr lang="en-US" sz="2800" smtClean="0">
                <a:solidFill>
                  <a:srgbClr val="0000CC"/>
                </a:solidFill>
              </a:rPr>
              <a:t>f (x)</a:t>
            </a:r>
            <a:r>
              <a:rPr lang="en-US" sz="2800" smtClean="0"/>
              <a:t> is a </a:t>
            </a:r>
            <a:r>
              <a:rPr lang="en-US" sz="2800" smtClean="0">
                <a:solidFill>
                  <a:srgbClr val="0000CC"/>
                </a:solidFill>
              </a:rPr>
              <a:t>p.d.f.</a:t>
            </a:r>
            <a:r>
              <a:rPr lang="en-US" sz="2800" smtClean="0"/>
              <a:t> (or </a:t>
            </a:r>
            <a:r>
              <a:rPr lang="en-US" sz="2800" smtClean="0">
                <a:solidFill>
                  <a:srgbClr val="0000CC"/>
                </a:solidFill>
              </a:rPr>
              <a:t>p.f.</a:t>
            </a:r>
            <a:r>
              <a:rPr lang="en-US" sz="2800" smtClean="0"/>
              <a:t>) of a random variable      if and only if both</a:t>
            </a:r>
            <a:endParaRPr lang="en-US" sz="2800" smtClean="0"/>
          </a:p>
          <a:p>
            <a:r>
              <a:rPr lang="vi-VN" sz="2800" smtClean="0"/>
              <a:t>of the following holds</a:t>
            </a:r>
            <a:endParaRPr lang="vi-VN" sz="2800" smtClean="0"/>
          </a:p>
          <a:p>
            <a:pPr marL="514350" indent="-514350">
              <a:buFont typeface="+mj-lt"/>
              <a:buAutoNum type="arabicPeriod"/>
            </a:pPr>
            <a:r>
              <a:rPr lang="vi-VN" sz="2800" kern="0" smtClean="0">
                <a:latin typeface="+mn-lt"/>
              </a:rPr>
              <a:t>The function</a:t>
            </a:r>
            <a:endParaRPr lang="vi-VN" sz="2800" kern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r>
              <a:rPr lang="vi-VN" sz="2800" kern="0" smtClean="0">
                <a:latin typeface="+mn-lt"/>
              </a:rPr>
              <a:t>With PF:</a:t>
            </a:r>
            <a:endParaRPr lang="vi-VN" sz="2800" kern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vi-VN" sz="2800" kern="0" smtClean="0">
              <a:latin typeface="+mn-lt"/>
            </a:endParaRPr>
          </a:p>
          <a:p>
            <a:pPr marL="514350" indent="-514350">
              <a:buFont typeface="+mj-lt"/>
              <a:buAutoNum type="arabicPeriod"/>
            </a:pPr>
            <a:endParaRPr lang="vi-VN" sz="2800" kern="0" smtClean="0">
              <a:latin typeface="+mn-lt"/>
            </a:endParaRPr>
          </a:p>
          <a:p>
            <a:pPr marL="514350" indent="-514350"/>
            <a:r>
              <a:rPr lang="vi-VN" sz="2800" kern="0" smtClean="0">
                <a:latin typeface="+mn-lt"/>
              </a:rPr>
              <a:t>	with PDF: </a:t>
            </a:r>
            <a:endParaRPr lang="vi-VN" sz="2800" kern="0" smtClean="0">
              <a:latin typeface="+mn-lt"/>
            </a:endParaRPr>
          </a:p>
          <a:p>
            <a:pPr marL="514350" indent="-514350"/>
            <a:endParaRPr lang="vi-VN" sz="2800" kern="0" smtClean="0">
              <a:latin typeface="+mn-lt"/>
            </a:endParaRPr>
          </a:p>
          <a:p>
            <a:pPr marL="514350" indent="-514350"/>
            <a:endParaRPr lang="vi-VN" sz="2800" kern="0" smtClean="0">
              <a:latin typeface="+mn-lt"/>
            </a:endParaRPr>
          </a:p>
          <a:p>
            <a:r>
              <a:rPr lang="vi-VN" sz="2800" smtClean="0"/>
              <a:t>The coefficient (e.g.                 </a:t>
            </a:r>
            <a:r>
              <a:rPr lang="en-US" sz="2800" smtClean="0"/>
              <a:t>) that ensures the condition 2 is satisfied is called the </a:t>
            </a:r>
            <a:r>
              <a:rPr lang="vi-VN" sz="2800" smtClean="0">
                <a:solidFill>
                  <a:srgbClr val="0000CC"/>
                </a:solidFill>
              </a:rPr>
              <a:t>normalizing constant</a:t>
            </a:r>
            <a:r>
              <a:rPr lang="vi-VN" sz="2800" smtClean="0"/>
              <a:t>.</a:t>
            </a:r>
            <a:endParaRPr lang="en-US" sz="2800" kern="0" smtClean="0">
              <a:latin typeface="+mn-lt"/>
            </a:endParaRPr>
          </a:p>
        </p:txBody>
      </p:sp>
      <p:pic>
        <p:nvPicPr>
          <p:cNvPr id="15" name="Picture 14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77950" y="1238450"/>
            <a:ext cx="303650" cy="251201"/>
          </a:xfrm>
          <a:prstGeom prst="rect">
            <a:avLst/>
          </a:prstGeom>
        </p:spPr>
      </p:pic>
      <p:pic>
        <p:nvPicPr>
          <p:cNvPr id="14" name="Picture 13" descr="addin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587784" y="2650035"/>
            <a:ext cx="2051016" cy="1007565"/>
          </a:xfrm>
          <a:prstGeom prst="rect">
            <a:avLst/>
          </a:prstGeom>
        </p:spPr>
      </p:pic>
      <p:pic>
        <p:nvPicPr>
          <p:cNvPr id="11" name="Picture 10" descr="addin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33800" y="2057400"/>
            <a:ext cx="1885389" cy="369901"/>
          </a:xfrm>
          <a:prstGeom prst="rect">
            <a:avLst/>
          </a:prstGeom>
        </p:spPr>
      </p:pic>
      <p:pic>
        <p:nvPicPr>
          <p:cNvPr id="17" name="Picture 16" descr="addin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25023" y="3939339"/>
            <a:ext cx="2542377" cy="861261"/>
          </a:xfrm>
          <a:prstGeom prst="rect">
            <a:avLst/>
          </a:prstGeom>
        </p:spPr>
      </p:pic>
      <p:pic>
        <p:nvPicPr>
          <p:cNvPr id="20" name="Picture 19" descr="addin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05200" y="5067700"/>
            <a:ext cx="1385747" cy="369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/>
              <a:t>Page </a:t>
            </a:r>
            <a:fld id="{F27CB3B6-75DE-4D3E-9506-11903635C686}" type="slidenum">
              <a:rPr lang="en-US" smtClean="0"/>
            </a:fld>
            <a:r>
              <a:rPr lang="en-US" smtClean="0"/>
              <a:t> </a:t>
            </a:r>
            <a:endParaRPr lang="en-US"/>
          </a:p>
        </p:txBody>
      </p:sp>
      <p:grpSp>
        <p:nvGrpSpPr>
          <p:cNvPr id="3" name="Group 4"/>
          <p:cNvGrpSpPr/>
          <p:nvPr/>
        </p:nvGrpSpPr>
        <p:grpSpPr bwMode="auto">
          <a:xfrm>
            <a:off x="609600" y="1304924"/>
            <a:ext cx="7850197" cy="523876"/>
            <a:chOff x="240" y="1632"/>
            <a:chExt cx="4945" cy="330"/>
          </a:xfrm>
        </p:grpSpPr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240" y="1700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00CC">
                    <a:alpha val="25999"/>
                  </a:srgbClr>
                </a:gs>
                <a:gs pos="100000">
                  <a:srgbClr val="0000CC">
                    <a:gamma/>
                    <a:shade val="46275"/>
                    <a:invGamma/>
                    <a:alpha val="85001"/>
                  </a:srgbClr>
                </a:gs>
              </a:gsLst>
              <a:path path="rect">
                <a:fillToRect r="100000" b="10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1</a:t>
              </a: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576" y="1632"/>
              <a:ext cx="4609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smtClean="0"/>
                <a:t>Random Variables and Discrete Distributions</a:t>
              </a:r>
              <a:endParaRPr lang="en-US" sz="2800" dirty="0"/>
            </a:p>
          </p:txBody>
        </p:sp>
      </p:grpSp>
      <p:grpSp>
        <p:nvGrpSpPr>
          <p:cNvPr id="9" name="Group 20"/>
          <p:cNvGrpSpPr/>
          <p:nvPr/>
        </p:nvGrpSpPr>
        <p:grpSpPr bwMode="auto">
          <a:xfrm>
            <a:off x="609600" y="2143124"/>
            <a:ext cx="4618043" cy="523876"/>
            <a:chOff x="240" y="1632"/>
            <a:chExt cx="2909" cy="330"/>
          </a:xfrm>
        </p:grpSpPr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240" y="1700"/>
              <a:ext cx="192" cy="192"/>
            </a:xfrm>
            <a:prstGeom prst="ellipse">
              <a:avLst/>
            </a:prstGeom>
            <a:gradFill rotWithShape="1">
              <a:gsLst>
                <a:gs pos="0">
                  <a:srgbClr val="0000CC">
                    <a:alpha val="25999"/>
                  </a:srgbClr>
                </a:gs>
                <a:gs pos="100000">
                  <a:srgbClr val="0000CC">
                    <a:gamma/>
                    <a:shade val="46275"/>
                    <a:invGamma/>
                    <a:alpha val="85001"/>
                  </a:srgbClr>
                </a:gs>
              </a:gsLst>
              <a:path path="rect">
                <a:fillToRect r="100000" b="10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>
                  <a:solidFill>
                    <a:schemeClr val="bg1"/>
                  </a:solidFill>
                </a:rPr>
                <a:t>2</a:t>
              </a: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24" name="Text Box 6"/>
            <p:cNvSpPr txBox="1">
              <a:spLocks noChangeArrowheads="1"/>
            </p:cNvSpPr>
            <p:nvPr/>
          </p:nvSpPr>
          <p:spPr bwMode="auto">
            <a:xfrm>
              <a:off x="576" y="1632"/>
              <a:ext cx="2573" cy="33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800" smtClean="0"/>
                <a:t>Continuous Distributions</a:t>
              </a:r>
              <a:endParaRPr lang="en-US" sz="2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mathcal{S}&#10;\]&#10;&#10;&#10;&#10;\end{document}"/>
  <p:tag name="IGUANATEXSIZE" val="20"/>
</p:tagLst>
</file>

<file path=ppt/tags/tag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mathcal{S}&#10;\]&#10;&#10;&#10;&#10;\end{document}"/>
  <p:tag name="IGUANATEXSIZE" val="20"/>
</p:tagLst>
</file>

<file path=ppt/tags/tag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mathcal{S}&#10;\]&#10;&#10;&#10;&#10;\end{document}"/>
  <p:tag name="IGUANATEXSIZE" val="20"/>
</p:tagLst>
</file>

<file path=ppt/tags/tag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 \in A)  = P(\{s_j \in \mathcal{S}:X(s_j) \in A\})&#10;\]&#10;&#10;&#10;&#10;\end{document}"/>
  <p:tag name="IGUANATEXSIZE" val="32"/>
</p:tagLst>
</file>

<file path=ppt/tags/tag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_i&#10;\]&#10;&#10;&#10;&#10;\end{document}"/>
  <p:tag name="IGUANATEXSIZE" val="32"/>
</p:tagLst>
</file>

<file path=ppt/tags/tag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_i&#10;\]&#10;&#10;&#10;&#10;\end{document}"/>
  <p:tag name="IGUANATEXSIZE" val="32"/>
</p:tagLst>
</file>

<file path=ppt/tags/tag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0 \leq p_i \leq 1&#10;\]&#10;&#10;&#10;&#10;\end{document}"/>
  <p:tag name="IGUANATEXSIZE" val="32"/>
</p:tagLst>
</file>

<file path=ppt/tags/tag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_i&#10;\]&#10;&#10;&#10;&#10;\end{document}"/>
  <p:tag name="IGUANATEXSIZE" val="32"/>
</p:tagLst>
</file>

<file path=ppt/tags/tag1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1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sum_{i} p_i = 1&#10;\]&#10;&#10;&#10;&#10;\end{document}"/>
  <p:tag name="IGUANATEXSIZE" val="32"/>
</p:tagLst>
</file>

<file path=ppt/tags/tag1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_i&#10;\]&#10;&#10;&#10;&#10;\end{document}"/>
  <p:tag name="IGUANATEXSIZE" val="32"/>
</p:tagLst>
</file>

<file path=ppt/tags/tag1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_i&#10;\]&#10;&#10;&#10;&#10;\end{document}"/>
  <p:tag name="IGUANATEXSIZE" val="32"/>
</p:tagLst>
</file>

<file path=ppt/tags/tag1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=x_i) = p_i&#10;\]&#10;&#10;&#10;&#10;\end{document}"/>
  <p:tag name="IGUANATEXSIZE" val="32"/>
</p:tagLst>
</file>

<file path=ppt/tags/tag1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 = x)  = \frac{1}{2^{x+1}}&#10;\]&#10;&#10;&#10;&#10;\end{document}"/>
  <p:tag name="IGUANATEXSIZE" val="32"/>
</p:tagLst>
</file>

<file path=ppt/tags/tag1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1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sum_{x=0}^{\infty}P(X = x)  = \sum_{x=0}^{\infty}\frac{1}{2^{x+1}} &#10;= \frac{1}{2}+\frac{1}{4}+\frac{1}{8}+\hdots = 1&#10;\]&#10;&#10;&#10;&#10;\end{document}"/>
  <p:tag name="IGUANATEXSIZE" val="32"/>
</p:tagLst>
</file>

<file path=ppt/tags/tag1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1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2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2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{X  \in C \}&#10;\]&#10;&#10;&#10;&#10;\end{document}"/>
  <p:tag name="IGUANATEXSIZE" val="32"/>
</p:tagLst>
</file>

<file path=ppt/tags/tag2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\in C)&#10;\]&#10;&#10;&#10;&#10;\end{document}"/>
  <p:tag name="IGUANATEXSIZE" val="32"/>
</p:tagLst>
</file>

<file path=ppt/tags/tag2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2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2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C&#10;\]&#10;&#10;&#10;&#10;\end{document}"/>
  <p:tag name="IGUANATEXSIZE" val="32"/>
</p:tagLst>
</file>

<file path=ppt/tags/tag2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_1,x_2,\hdots,x_k&#10;\]&#10;&#10;&#10;&#10;\end{document}"/>
  <p:tag name="IGUANATEXSIZE" val="32"/>
</p:tagLst>
</file>

<file path=ppt/tags/tag2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_1,x_2,\hdots,x_k&#10;\]&#10;&#10;&#10;&#10;\end{document}"/>
  <p:tag name="IGUANATEXSIZE" val="32"/>
</p:tagLst>
</file>

<file path=ppt/tags/tag2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k&#10;\]&#10;&#10;&#10;&#10;\end{document}"/>
  <p:tag name="IGUANATEXSIZE" val="32"/>
</p:tagLst>
</file>

<file path=ppt/tags/tag2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\sim \mbox{Bernoulli}(p)&#10;\]&#10;&#10;&#10;&#10;\end{document}"/>
  <p:tag name="IGUANATEXSIZE" val="32"/>
</p:tagLst>
</file>

<file path=ppt/tags/tag3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= \left\{ &#10;\begin{array}{ll}&#10;p &amp; ,\mbox{if } x = 0 \\&#10;1-p &amp; ,\mbox{if } x = 1 \\&#10;0 &amp; ,\mbox{otherwise} &#10;\end{array}&#10;\right.&#10;\]&#10;&#10;&#10;&#10;\end{document}"/>
  <p:tag name="IGUANATEXSIZE" val="32"/>
</p:tagLst>
</file>

<file path=ppt/tags/tag3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3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 =0&#10;\]&#10;&#10;&#10;&#10;\end{document}"/>
  <p:tag name="IGUANATEXSIZE" val="32"/>
</p:tagLst>
</file>

<file path=ppt/tags/tag3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 =1&#10;\]&#10;&#10;&#10;&#10;\end{document}"/>
  <p:tag name="IGUANATEXSIZE" val="32"/>
</p:tagLst>
</file>

<file path=ppt/tags/tag3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&#10;\]&#10;&#10;&#10;&#10;\end{document}"/>
  <p:tag name="IGUANATEXSIZE" val="32"/>
</p:tagLst>
</file>

<file path=ppt/tags/tag3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&#10;\]&#10;&#10;&#10;&#10;\end{document}"/>
  <p:tag name="IGUANATEXSIZE" val="32"/>
</p:tagLst>
</file>

<file path=ppt/tags/tag3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3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a\leq b&#10;\]&#10;&#10;&#10;&#10;\end{document}"/>
  <p:tag name="IGUANATEXSIZE" val="32"/>
</p:tagLst>
</file>

<file path=ppt/tags/tag3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&#10;\]&#10;&#10;&#10;&#10;\end{document}"/>
  <p:tag name="IGUANATEXSIZE" val="32"/>
</p:tagLst>
</file>

<file path=ppt/tags/tag3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a,\hdots, b&#10;\]&#10;&#10;&#10;&#10;\end{document}"/>
  <p:tag name="IGUANATEXSIZE" val="32"/>
</p:tagLst>
</file>

<file path=ppt/tags/tag4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a,\hdots, b&#10;\]&#10;&#10;&#10;&#10;\end{document}"/>
  <p:tag name="IGUANATEXSIZE" val="32"/>
</p:tagLst>
</file>

<file path=ppt/tags/tag4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=x) = 0.001&#10;\]&#10;&#10;&#10;&#10;\end{document}"/>
  <p:tag name="IGUANATEXSIZE" val="32"/>
</p:tagLst>
</file>

<file path=ppt/tags/tag4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\in \{0,1,\hdots,999 \}&#10;\]&#10;&#10;&#10;&#10;\end{document}"/>
  <p:tag name="IGUANATEXSIZE" val="32"/>
</p:tagLst>
</file>

<file path=ppt/tags/tag4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{0,1,\hdots,999 \}&#10;\]&#10;&#10;&#10;&#10;\end{document}"/>
  <p:tag name="IGUANATEXSIZE" val="32"/>
</p:tagLst>
</file>

<file path=ppt/tags/tag4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i_j \in \{0,1,\hdots,9 \}&#10;\]&#10;&#10;&#10;&#10;\end{document}"/>
  <p:tag name="IGUANATEXSIZE" val="32"/>
</p:tagLst>
</file>

<file path=ppt/tags/tag4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j =1,2,3&#10;\]&#10;&#10;&#10;&#10;\end{document}"/>
  <p:tag name="IGUANATEXSIZE" val="32"/>
</p:tagLst>
</file>

<file path=ppt/tags/tag4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s=(i_1,i_2,i_3)&#10;\]&#10;&#10;&#10;&#10;\end{document}"/>
  <p:tag name="IGUANATEXSIZE" val="32"/>
</p:tagLst>
</file>

<file path=ppt/tags/tag4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(i_1,i_2,i_3)&#10;\]&#10;&#10;&#10;&#10;\end{document}"/>
  <p:tag name="IGUANATEXSIZE" val="32"/>
</p:tagLst>
</file>

<file path=ppt/tags/tag4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(s) = 100i_1+10i_2 +i_3&#10;\]&#10;&#10;&#10;&#10;\end{document}"/>
  <p:tag name="IGUANATEXSIZE" val="32"/>
</p:tagLst>
</file>

<file path=ppt/tags/tag4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(0,1,5) = 15&#10;\]&#10;&#10;&#10;&#10;\end{document}"/>
  <p:tag name="IGUANATEXSIZE" val="32"/>
</p:tagLst>
</file>

<file path=ppt/tags/tag5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5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=x) = \binom{n}{x}p^x(1-p)^{n-x}, \ x=0,1,\hdots,n&#10;\]&#10;&#10;&#10;&#10;\end{document}"/>
  <p:tag name="IGUANATEXSIZE" val="32"/>
</p:tagLst>
</file>

<file path=ppt/tags/tag5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= \displaystyle \left\{&#10;\begin{array}{ll}&#10;\displaystyle  \binom{n}{x}p^x(1-p)^{n-x}, &amp; \mbox{, if } x=0,1,\hdots,n \\&#10;0 &amp; ,\mbox{otherwise}&#10;\end{array}&#10;\right.&#10;\]&#10;&#10;&#10;&#10;\end{document}"/>
  <p:tag name="IGUANATEXSIZE" val="32"/>
</p:tagLst>
</file>

<file path=ppt/tags/tag5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\sim \mbox{Binomial}(n,p)&#10;\]&#10;&#10;&#10;&#10;\end{document}"/>
  <p:tag name="IGUANATEXSIZE" val="32"/>
</p:tagLst>
</file>

<file path=ppt/tags/tag5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5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n&#10;\]&#10;&#10;&#10;&#10;\end{document}"/>
  <p:tag name="IGUANATEXSIZE" val="32"/>
</p:tagLst>
</file>

<file path=ppt/tags/tag5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&#10;\]&#10;&#10;&#10;&#10;\end{document}"/>
  <p:tag name="IGUANATEXSIZE" val="32"/>
</p:tagLst>
</file>

<file path=ppt/tags/tag5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mbox{Binomial}(n,p)&#10;\]&#10;&#10;&#10;&#10;\end{document}"/>
  <p:tag name="IGUANATEXSIZE" val="32"/>
</p:tagLst>
</file>

<file path=ppt/tags/tag5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n&#10;\]&#10;&#10;&#10;&#10;\end{document}"/>
  <p:tag name="IGUANATEXSIZE" val="32"/>
</p:tagLst>
</file>

<file path=ppt/tags/tag5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mbox{Bernoulli}(p)&#10;\]&#10;&#10;&#10;&#10;\end{document}"/>
  <p:tag name="IGUANATEXSIZE" val="32"/>
</p:tagLst>
</file>

<file path=ppt/tags/tag6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n&#10;\]&#10;&#10;&#10;&#10;\end{document}"/>
  <p:tag name="IGUANATEXSIZE" val="32"/>
</p:tagLst>
</file>

<file path=ppt/tags/tag6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&#10;\]&#10;&#10;&#10;&#10;\end{document}"/>
  <p:tag name="IGUANATEXSIZE" val="32"/>
</p:tagLst>
</file>

<file path=ppt/tags/tag6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 = P(X\leq x)&#10;\]&#10;&#10;&#10;&#10;\end{document}"/>
  <p:tag name="IGUANATEXSIZE" val="32"/>
</p:tagLst>
</file>

<file path=ppt/tags/tag6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6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-\infty &lt; x &lt; 50 \Rightarrow F(X) = P(\mbox{cost}&lt;x) = 0&#10;\]&#10;&#10;&#10;&#10;\end{document}"/>
  <p:tag name="IGUANATEXSIZE" val="20"/>
</p:tagLst>
</file>

<file path=ppt/tags/tag6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50 \leq x &lt; 200 \Rightarrow F(X) = P(\mbox{cost}&lt;x) = 0.3&#10;\]&#10;&#10;&#10;&#10;\end{document}"/>
  <p:tag name="IGUANATEXSIZE" val="20"/>
</p:tagLst>
</file>

<file path=ppt/tags/tag6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200 \leq x &lt; 350 \Rightarrow F(X) = P(\mbox{cost}&lt;x) = 0.5&#10;\]&#10;&#10;&#10;&#10;\end{document}"/>
  <p:tag name="IGUANATEXSIZE" val="20"/>
</p:tagLst>
</file>

<file path=ppt/tags/tag6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350 \leq x &lt; \infty \Rightarrow F(X) = P(\mbox{cost}&lt;x) = 1&#10;\]&#10;&#10;&#10;&#10;\end{document}"/>
  <p:tag name="IGUANATEXSIZE" val="20"/>
</p:tagLst>
</file>

<file path=ppt/tags/tag6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P(x_1\leq X \leq x_2) = \int_{x_1}^{x_2}f(x)dx&#10;\]&#10;&#10;&#10;&#10;\end{document}"/>
  <p:tag name="IGUANATEXSIZE" val="32"/>
</p:tagLst>
</file>

<file path=ppt/tags/tag6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7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{x: f(x) &gt; 0 \}&#10;\]&#10;&#10;&#10;&#10;\end{document}"/>
  <p:tag name="IGUANATEXSIZE" val="32"/>
</p:tagLst>
</file>

<file path=ppt/tags/tag7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7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&#10;\]&#10;&#10;&#10;&#10;\end{document}"/>
  <p:tag name="IGUANATEXSIZE" val="32"/>
</p:tagLst>
</file>

<file path=ppt/tags/tag7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&#10;\]&#10;&#10;&#10;&#10;\end{document}"/>
  <p:tag name="IGUANATEXSIZE" val="32"/>
</p:tagLst>
</file>

<file path=ppt/tags/tag7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7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 \sim \mbox{Uniform}(a,b)&#10;\]&#10;&#10;&#10;&#10;\end{document}"/>
  <p:tag name="IGUANATEXSIZE" val="32"/>
</p:tagLst>
</file>

<file path=ppt/tags/tag7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= \displaystyle \left\{&#10;\begin{array}{ll}&#10;\displaystyle  \frac{1}{b-a}, &amp; \mbox{, if } x \in [a,b] \\&#10;0 &amp; ,\mbox{otherwise}&#10;\end{array}&#10;\right.&#10;\]&#10;&#10;&#10;&#10;\end{document}"/>
  <p:tag name="IGUANATEXSIZE" val="32"/>
</p:tagLst>
</file>

<file path=ppt/tags/tag7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[a,b]&#10;\]&#10;&#10;&#10;&#10;\end{document}"/>
  <p:tag name="IGUANATEXSIZE" val="32"/>
</p:tagLst>
</file>

<file path=ppt/tags/tag7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[a,b]&#10;\]&#10;&#10;&#10;&#10;\end{document}"/>
  <p:tag name="IGUANATEXSIZE" val="32"/>
</p:tagLst>
</file>

<file path=ppt/tags/tag79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= 1.5-6(x-50.0)^2&#10;\]&#10;&#10;&#10;&#10;\end{document}"/>
  <p:tag name="IGUANATEXSIZE" val="32"/>
</p:tagLst>
</file>

<file path=ppt/tags/tag80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\in [49.5,50.5]&#10;\]&#10;&#10;&#10;&#10;\end{document}"/>
  <p:tag name="IGUANATEXSIZE" val="32"/>
</p:tagLst>
</file>

<file path=ppt/tags/tag81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= 0 \mbox{ elsewhere}&#10;\]&#10;&#10;&#10;&#10;\end{document}"/>
  <p:tag name="IGUANATEXSIZE" val="32"/>
</p:tagLst>
</file>

<file path=ppt/tags/tag82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int_{49.5}^{50.5} f(x)dx = 1&#10;\]&#10;&#10;&#10;&#10;\end{document}"/>
  <p:tag name="IGUANATEXSIZE" val="32"/>
</p:tagLst>
</file>

<file path=ppt/tags/tag83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[49.5,50.5]&#10;\]&#10;&#10;&#10;&#10;\end{document}"/>
  <p:tag name="IGUANATEXSIZE" val="32"/>
</p:tagLst>
</file>

<file path=ppt/tags/tag84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X&#10;\]&#10;&#10;&#10;&#10;\end{document}"/>
  <p:tag name="IGUANATEXSIZE" val="32"/>
</p:tagLst>
</file>

<file path=ppt/tags/tag85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sum_{i=1}^{\infty}f(x_i) = 1&#10;\]&#10;&#10;&#10;&#10;\end{document}"/>
  <p:tag name="IGUANATEXSIZE" val="32"/>
</p:tagLst>
</file>

<file path=ppt/tags/tag86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f(x) \geq 0  \ \forall x&#10;\]&#10;&#10;&#10;&#10;\end{document}"/>
  <p:tag name="IGUANATEXSIZE" val="32"/>
</p:tagLst>
</file>

<file path=ppt/tags/tag87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\int_{-\infty}^{\infty}f(x)dx = 1&#10;\]&#10;&#10;&#10;&#10;\end{document}"/>
  <p:tag name="IGUANATEXSIZE" val="32"/>
</p:tagLst>
</file>

<file path=ppt/tags/tag88.xml><?xml version="1.0" encoding="utf-8"?>
<p:tagLst xmlns:p="http://schemas.openxmlformats.org/presentationml/2006/main">
  <p:tag name="LATEXADDIN" val="\documentclass{article}&#10;\usepackage{amsmath}&#10;\usepackage{color}&#10;\pagestyle{empty}&#10;\begin{document}&#10;\color{blue}&#10;\[&#10;1/(b-a)&#10;\]&#10;&#10;&#10;&#10;\end{document}"/>
  <p:tag name="IGUANATEXSIZE" val="32"/>
</p:tagLst>
</file>

<file path=ppt/tags/tag89.xml><?xml version="1.0" encoding="utf-8"?>
<p:tagLst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usepackage{latexsym}&#10;\usepackage{amsbsy}&#10;\usepackage{amssymb}&#10;\newcommand{\Tr}{\mbox{Trace}}&#10;\newcommand{\tr}{\mbox{Tr}}&#10;\newcommand{\stl}{\mbox{subject to}}&#10;\newcommand{\sts}{\mbox{s.t.}}&#10;\newcommand{\boldsym}[1]{\mbox{\boldmath$#1$}}&#10;\newcommand{\ugamma}{\underline{\gamma}}&#10;\newcommand{\bgamma}{\bar{\gamma}}&#10;\newcommand{\clL}{{\cal L}}&#10;\newcommand{\R}{\mbox{\boldmath$R$}}&#10;\newcommand{\bE}{{\bf E}}&#10;\newcommand{\req}[1]{(\ref{#1})}&#10;\newcommand{\wh}[1]{\widehat{#1}}&#10;\newcommand{\V}{\mbox{vert}}&#10;\newcommand{\bR}{\widehat{R}}&#10;\newcommand{\bS}{\widehat{S}}&#10;\def\bmatrix#1{\left[\matrix{#1}\right]}&#10;\newcommand{\tL}{\tilde{L}}&#10;\newcommand{\tD}{\tilde{D}}&#10;\newcommand{\clD}{{\cal D}}&#10;\newcommand{\clE}{{\cal E}}&#10;\newcommand{\lm}{\lambda_{\min}}&#10;\newcommand{\ds}{\displaystyle}&#10;\newcommand{\n}{\noindent}&#10;\newcommand{\clA}{{\cal A}}&#10;\newcommand{\tclA}{\tilde{\cal A}}&#10;\newcommand{\clM}{{\cal M}}&#10;\newcommand{\clF}{{\cal F}}&#10;\newcommand{\clN}{{\cal N}}&#10;\newcommand{\clH}{{\cal H}}&#10;\newcommand{\clC}{{\cal C}}&#10;\newcommand{\clB}{{\cal B}}&#10;\newcommand{\clP}{{\cal P}}&#10;\newcommand{\clS}{{\cal S}}&#10;\newcommand{\clR}{{\cal R}}&#10;\newcommand{\clT}{{\cal T}}&#10;\newcommand{\clK}{{\cal K}}&#10;\newcommand{\non}{\nonumber}&#10;\newcommand{\qed}{\mbox{}\hfill$\Box$&#10;\vskip 3mm}&#10;\newcommand{\qedb}{\mbox{}\hfill$\blacksquare$&#10;\vskip 3mm}&#10;%\end{flushright}&#10;\newtheorem{myth}{Theorem}&#10;\newtheorem{mypro}{Proposition}&#10;\newtheorem{mylem}{Lemma}&#10;\newtheorem{mycor}{Corollary}&#10;\newcommand{\co}{\mbox{conv}}&#10;\newcommand{\cone}{\mbox{cone}}&#10;\newcommand{\all}{\forall}&#10;\newcommand{\clV}{{\cal V}}&#10;\newcommand{\varep}{\varepsilon}&#10;\newcommand{\la}{\langle}&#10;\newcommand{\ra}{\rangle}&#10;\newcommand{\basig}{\bar{\Sigma}}&#10;\newcommand{\Prf}{{\it Proof: \ }}&#10;\newcommand{\vs}{\\ \vskip 1pt \noindent}&#10;%\newcommand{\clP}{{\cal P}}&#10;\newcommand{\bp}{\bar{p}}&#10;\newcommand{\bq}{\bar{q}}&#10;\newcommand{\dist}{{\rm dist}}&#10;\newcommand{\acos}{{\sf arc cos}}&#10;&#10;\begin{document}&#10;&#10;\end{document}&#10;"/>
  <p:tag name="TEX2PS" val="latex $(base).tex; dvips -D $(res) -E -o $(base).ps $(base).dvi"/>
  <p:tag name="EXTERNALEDITCOMMAND" val="notepad %"/>
  <p:tag name="GHOSTSCRIPTCOMMAND" val="C:\gs\gs8.14\bin\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2"/>
  <p:tag name="DEFAULTFONTSIZE" val="10"/>
  <p:tag name="DEFAULTWIDTH" val="785"/>
  <p:tag name="DEFAULTHEIGHT" val="417"/>
</p:tagLst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7284</Words>
  <Application>WPS Presentation</Application>
  <PresentationFormat>On-screen Show (4:3)</PresentationFormat>
  <Paragraphs>258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SimSun</vt:lpstr>
      <vt:lpstr>Wingdings</vt:lpstr>
      <vt:lpstr>Arial</vt:lpstr>
      <vt:lpstr>Microsoft YaHei</vt:lpstr>
      <vt:lpstr>Arial Unicode MS</vt:lpstr>
      <vt:lpstr>Custom Design</vt:lpstr>
      <vt:lpstr>PowerPoint 演示文稿</vt:lpstr>
      <vt:lpstr>Contents</vt:lpstr>
      <vt:lpstr>PowerPoint 演示文稿</vt:lpstr>
      <vt:lpstr>Definition of Random Variables</vt:lpstr>
      <vt:lpstr>Definition of Random Variables</vt:lpstr>
      <vt:lpstr>Definition of Random Variables</vt:lpstr>
      <vt:lpstr>Definition of Random Variables</vt:lpstr>
      <vt:lpstr>Definition of Random Variables</vt:lpstr>
      <vt:lpstr>Distribution of a Random Variable</vt:lpstr>
      <vt:lpstr>Distribution of a Random Variable</vt:lpstr>
      <vt:lpstr>Distribution of a Random Variable</vt:lpstr>
      <vt:lpstr>Distribution of a Random Variable</vt:lpstr>
      <vt:lpstr>Distribution of a Random Variable</vt:lpstr>
      <vt:lpstr>Uniform Distributions on Integers </vt:lpstr>
      <vt:lpstr>Uniform Distributions on Integers </vt:lpstr>
      <vt:lpstr>Binomial Distributions</vt:lpstr>
      <vt:lpstr>Cumulative Distributions</vt:lpstr>
      <vt:lpstr>PowerPoint 演示文稿</vt:lpstr>
      <vt:lpstr>The Probability Density Function (p.d.f.)</vt:lpstr>
      <vt:lpstr>The Probability Density Function (p.d.f)</vt:lpstr>
      <vt:lpstr>The Probability Density Function (p.d.f.)</vt:lpstr>
      <vt:lpstr>The Probability Density Function (PDF)</vt:lpstr>
      <vt:lpstr>Summary</vt:lpstr>
    </vt:vector>
  </TitlesOfParts>
  <Company>unsw-EET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hungta</dc:creator>
  <cp:lastModifiedBy>Huong Nguyen Thi</cp:lastModifiedBy>
  <cp:revision>2991</cp:revision>
  <dcterms:created xsi:type="dcterms:W3CDTF">2007-03-29T01:06:00Z</dcterms:created>
  <dcterms:modified xsi:type="dcterms:W3CDTF">2025-01-13T13:55:54Z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4BBEC4AA60664D328EE38F1707DB7DEC_12</vt:lpwstr>
  </property>
  <property fmtid="{D5CDD505-2E9C-101B-9397-08002B2CF9AE}" pid="3" name="KSOProductBuildVer">
    <vt:lpwstr>1033-12.2.0.19805</vt:lpwstr>
  </property>
</Properties>
</file>